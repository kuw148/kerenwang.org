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y="5143500" cx="9144000"/>
  <p:notesSz cx="6858000" cy="9144000"/>
  <p:embeddedFontLst>
    <p:embeddedFont>
      <p:font typeface="Oswald ExtraLight"/>
      <p:regular r:id="rId20"/>
      <p:bold r:id="rId21"/>
    </p:embeddedFont>
    <p:embeddedFont>
      <p:font typeface="Roboto"/>
      <p:regular r:id="rId22"/>
      <p:bold r:id="rId23"/>
      <p:italic r:id="rId24"/>
      <p:boldItalic r:id="rId25"/>
    </p:embeddedFont>
    <p:embeddedFont>
      <p:font typeface="Open Sans"/>
      <p:regular r:id="rId26"/>
      <p:bold r:id="rId27"/>
      <p:italic r:id="rId28"/>
      <p:boldItalic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OswaldExtraLight-regular.fntdata"/><Relationship Id="rId22" Type="http://schemas.openxmlformats.org/officeDocument/2006/relationships/font" Target="fonts/Roboto-regular.fntdata"/><Relationship Id="rId21" Type="http://schemas.openxmlformats.org/officeDocument/2006/relationships/font" Target="fonts/OswaldExtraLight-bold.fntdata"/><Relationship Id="rId24" Type="http://schemas.openxmlformats.org/officeDocument/2006/relationships/font" Target="fonts/Roboto-italic.fntdata"/><Relationship Id="rId23" Type="http://schemas.openxmlformats.org/officeDocument/2006/relationships/font" Target="fonts/Roboto-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OpenSans-regular.fntdata"/><Relationship Id="rId25" Type="http://schemas.openxmlformats.org/officeDocument/2006/relationships/font" Target="fonts/Roboto-boldItalic.fntdata"/><Relationship Id="rId28" Type="http://schemas.openxmlformats.org/officeDocument/2006/relationships/font" Target="fonts/OpenSans-italic.fntdata"/><Relationship Id="rId27" Type="http://schemas.openxmlformats.org/officeDocument/2006/relationships/font" Target="fonts/OpenSans-bold.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OpenSans-boldItalic.fntdata"/><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g28a8fbe259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g28a8fbe259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28b8dbcf72a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28b8dbcf72a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290624bd60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290624bd60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28b8dbcf72a_0_40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28b8dbcf72a_0_40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29036fd07c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29036fd07c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29036fd07c0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29036fd07c0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2913861e3b9_1_1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2913861e3b9_1_1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2913861e3b9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2913861e3b9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2913861e3b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2913861e3b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2913861e3b9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2913861e3b9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29281929bd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29281929bd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292de5ae757_1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292de5ae757_1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292de5ae757_1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292de5ae757_1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293b6f91cdd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293b6f91cdd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AUTOLAYOUT">
    <p:bg>
      <p:bgPr>
        <a:solidFill>
          <a:srgbClr val="FFFFFF"/>
        </a:solidFill>
      </p:bgPr>
    </p:bg>
    <p:spTree>
      <p:nvGrpSpPr>
        <p:cNvPr id="50" name="Shape 50"/>
        <p:cNvGrpSpPr/>
        <p:nvPr/>
      </p:nvGrpSpPr>
      <p:grpSpPr>
        <a:xfrm>
          <a:off x="0" y="0"/>
          <a:ext cx="0" cy="0"/>
          <a:chOff x="0" y="0"/>
          <a:chExt cx="0" cy="0"/>
        </a:xfrm>
      </p:grpSpPr>
      <p:sp>
        <p:nvSpPr>
          <p:cNvPr id="51" name="Google Shape;51;p13"/>
          <p:cNvSpPr/>
          <p:nvPr/>
        </p:nvSpPr>
        <p:spPr>
          <a:xfrm rot="10800000">
            <a:off x="0" y="0"/>
            <a:ext cx="9144000" cy="51435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13"/>
          <p:cNvSpPr txBox="1"/>
          <p:nvPr>
            <p:ph idx="12" type="sldNum"/>
          </p:nvPr>
        </p:nvSpPr>
        <p:spPr>
          <a:xfrm>
            <a:off x="8472458" y="4663217"/>
            <a:ext cx="548700" cy="393600"/>
          </a:xfrm>
          <a:prstGeom prst="rect">
            <a:avLst/>
          </a:prstGeom>
          <a:noFill/>
        </p:spPr>
        <p:txBody>
          <a:bodyPr anchorCtr="0" anchor="ctr" bIns="91425" lIns="91425" spcFirstLastPara="1" rIns="91425" wrap="square" tIns="91425">
            <a:normAutofit/>
          </a:bodyPr>
          <a:lstStyle>
            <a:lvl1pPr lvl="0" rtl="0" algn="r">
              <a:lnSpc>
                <a:spcPct val="100000"/>
              </a:lnSpc>
              <a:spcAft>
                <a:spcPts val="0"/>
              </a:spcAft>
              <a:buNone/>
              <a:defRPr sz="1000">
                <a:solidFill>
                  <a:srgbClr val="FFFFFF"/>
                </a:solidFill>
              </a:defRPr>
            </a:lvl1pPr>
            <a:lvl2pPr lvl="1" rtl="0" algn="r">
              <a:lnSpc>
                <a:spcPct val="100000"/>
              </a:lnSpc>
              <a:spcAft>
                <a:spcPts val="0"/>
              </a:spcAft>
              <a:buNone/>
              <a:defRPr sz="1000">
                <a:solidFill>
                  <a:srgbClr val="FFFFFF"/>
                </a:solidFill>
              </a:defRPr>
            </a:lvl2pPr>
            <a:lvl3pPr lvl="2" rtl="0" algn="r">
              <a:lnSpc>
                <a:spcPct val="100000"/>
              </a:lnSpc>
              <a:spcAft>
                <a:spcPts val="0"/>
              </a:spcAft>
              <a:buNone/>
              <a:defRPr sz="1000">
                <a:solidFill>
                  <a:srgbClr val="FFFFFF"/>
                </a:solidFill>
              </a:defRPr>
            </a:lvl3pPr>
            <a:lvl4pPr lvl="3" rtl="0" algn="r">
              <a:lnSpc>
                <a:spcPct val="100000"/>
              </a:lnSpc>
              <a:spcAft>
                <a:spcPts val="0"/>
              </a:spcAft>
              <a:buNone/>
              <a:defRPr sz="1000">
                <a:solidFill>
                  <a:srgbClr val="FFFFFF"/>
                </a:solidFill>
              </a:defRPr>
            </a:lvl4pPr>
            <a:lvl5pPr lvl="4" rtl="0" algn="r">
              <a:lnSpc>
                <a:spcPct val="100000"/>
              </a:lnSpc>
              <a:spcAft>
                <a:spcPts val="0"/>
              </a:spcAft>
              <a:buNone/>
              <a:defRPr sz="1000">
                <a:solidFill>
                  <a:srgbClr val="FFFFFF"/>
                </a:solidFill>
              </a:defRPr>
            </a:lvl5pPr>
            <a:lvl6pPr lvl="5" rtl="0" algn="r">
              <a:lnSpc>
                <a:spcPct val="100000"/>
              </a:lnSpc>
              <a:spcAft>
                <a:spcPts val="0"/>
              </a:spcAft>
              <a:buNone/>
              <a:defRPr sz="1000">
                <a:solidFill>
                  <a:srgbClr val="FFFFFF"/>
                </a:solidFill>
              </a:defRPr>
            </a:lvl6pPr>
            <a:lvl7pPr lvl="6" rtl="0" algn="r">
              <a:lnSpc>
                <a:spcPct val="100000"/>
              </a:lnSpc>
              <a:spcAft>
                <a:spcPts val="0"/>
              </a:spcAft>
              <a:buNone/>
              <a:defRPr sz="1000">
                <a:solidFill>
                  <a:srgbClr val="FFFFFF"/>
                </a:solidFill>
              </a:defRPr>
            </a:lvl7pPr>
            <a:lvl8pPr lvl="7" rtl="0" algn="r">
              <a:lnSpc>
                <a:spcPct val="100000"/>
              </a:lnSpc>
              <a:spcAft>
                <a:spcPts val="0"/>
              </a:spcAft>
              <a:buNone/>
              <a:defRPr sz="1000">
                <a:solidFill>
                  <a:srgbClr val="FFFFFF"/>
                </a:solidFill>
              </a:defRPr>
            </a:lvl8pPr>
            <a:lvl9pPr lvl="8" rtl="0" algn="r">
              <a:lnSpc>
                <a:spcPct val="100000"/>
              </a:lnSpc>
              <a:spcAft>
                <a:spcPts val="0"/>
              </a:spcAft>
              <a:buNone/>
              <a:defRPr sz="1000">
                <a:solidFill>
                  <a:srgbClr val="FFFFFF"/>
                </a:solidFill>
              </a:defRPr>
            </a:lvl9pPr>
          </a:lstStyle>
          <a:p>
            <a:pPr indent="0" lvl="0" marL="0" rtl="0" algn="r">
              <a:spcBef>
                <a:spcPts val="0"/>
              </a:spcBef>
              <a:spcAft>
                <a:spcPts val="0"/>
              </a:spcAft>
              <a:buNone/>
            </a:pPr>
            <a:fld id="{00000000-1234-1234-1234-123412341234}" type="slidenum">
              <a:rPr lang="en"/>
              <a:t>‹#›</a:t>
            </a:fld>
            <a:endParaRPr/>
          </a:p>
        </p:txBody>
      </p:sp>
      <p:sp>
        <p:nvSpPr>
          <p:cNvPr id="53" name="Google Shape;53;p13"/>
          <p:cNvSpPr txBox="1"/>
          <p:nvPr>
            <p:ph idx="1" type="subTitle"/>
          </p:nvPr>
        </p:nvSpPr>
        <p:spPr>
          <a:xfrm>
            <a:off x="335100" y="3066963"/>
            <a:ext cx="8473800" cy="362100"/>
          </a:xfrm>
          <a:prstGeom prst="rect">
            <a:avLst/>
          </a:prstGeom>
          <a:noFill/>
        </p:spPr>
        <p:txBody>
          <a:bodyPr anchorCtr="0" anchor="t" bIns="91425" lIns="91425" spcFirstLastPara="1" rIns="91425" wrap="square" tIns="91425">
            <a:normAutofit/>
          </a:bodyPr>
          <a:lstStyle>
            <a:lvl1pPr lvl="0" rtl="0" algn="l">
              <a:lnSpc>
                <a:spcPct val="100000"/>
              </a:lnSpc>
              <a:spcBef>
                <a:spcPts val="0"/>
              </a:spcBef>
              <a:spcAft>
                <a:spcPts val="0"/>
              </a:spcAft>
              <a:buClr>
                <a:srgbClr val="FFFFFF"/>
              </a:buClr>
              <a:buSzPts val="1800"/>
              <a:buNone/>
              <a:defRPr sz="1800">
                <a:solidFill>
                  <a:srgbClr val="FFFFFF"/>
                </a:solidFill>
              </a:defRPr>
            </a:lvl1pPr>
            <a:lvl2pPr lvl="1" rtl="0" algn="l">
              <a:lnSpc>
                <a:spcPct val="100000"/>
              </a:lnSpc>
              <a:spcBef>
                <a:spcPts val="0"/>
              </a:spcBef>
              <a:spcAft>
                <a:spcPts val="0"/>
              </a:spcAft>
              <a:buClr>
                <a:srgbClr val="FFFFFF"/>
              </a:buClr>
              <a:buSzPts val="1800"/>
              <a:buNone/>
              <a:defRPr sz="1800">
                <a:solidFill>
                  <a:srgbClr val="FFFFFF"/>
                </a:solidFill>
              </a:defRPr>
            </a:lvl2pPr>
            <a:lvl3pPr lvl="2" rtl="0" algn="l">
              <a:lnSpc>
                <a:spcPct val="100000"/>
              </a:lnSpc>
              <a:spcBef>
                <a:spcPts val="0"/>
              </a:spcBef>
              <a:spcAft>
                <a:spcPts val="0"/>
              </a:spcAft>
              <a:buClr>
                <a:srgbClr val="FFFFFF"/>
              </a:buClr>
              <a:buSzPts val="1800"/>
              <a:buNone/>
              <a:defRPr sz="1800">
                <a:solidFill>
                  <a:srgbClr val="FFFFFF"/>
                </a:solidFill>
              </a:defRPr>
            </a:lvl3pPr>
            <a:lvl4pPr lvl="3" rtl="0" algn="l">
              <a:lnSpc>
                <a:spcPct val="100000"/>
              </a:lnSpc>
              <a:spcBef>
                <a:spcPts val="0"/>
              </a:spcBef>
              <a:spcAft>
                <a:spcPts val="0"/>
              </a:spcAft>
              <a:buClr>
                <a:srgbClr val="FFFFFF"/>
              </a:buClr>
              <a:buSzPts val="1800"/>
              <a:buNone/>
              <a:defRPr sz="1800">
                <a:solidFill>
                  <a:srgbClr val="FFFFFF"/>
                </a:solidFill>
              </a:defRPr>
            </a:lvl4pPr>
            <a:lvl5pPr lvl="4" rtl="0" algn="l">
              <a:lnSpc>
                <a:spcPct val="100000"/>
              </a:lnSpc>
              <a:spcBef>
                <a:spcPts val="0"/>
              </a:spcBef>
              <a:spcAft>
                <a:spcPts val="0"/>
              </a:spcAft>
              <a:buClr>
                <a:srgbClr val="FFFFFF"/>
              </a:buClr>
              <a:buSzPts val="1800"/>
              <a:buNone/>
              <a:defRPr sz="1800">
                <a:solidFill>
                  <a:srgbClr val="FFFFFF"/>
                </a:solidFill>
              </a:defRPr>
            </a:lvl5pPr>
            <a:lvl6pPr lvl="5" rtl="0" algn="l">
              <a:lnSpc>
                <a:spcPct val="100000"/>
              </a:lnSpc>
              <a:spcBef>
                <a:spcPts val="0"/>
              </a:spcBef>
              <a:spcAft>
                <a:spcPts val="0"/>
              </a:spcAft>
              <a:buClr>
                <a:srgbClr val="FFFFFF"/>
              </a:buClr>
              <a:buSzPts val="1800"/>
              <a:buNone/>
              <a:defRPr sz="1800">
                <a:solidFill>
                  <a:srgbClr val="FFFFFF"/>
                </a:solidFill>
              </a:defRPr>
            </a:lvl6pPr>
            <a:lvl7pPr lvl="6" rtl="0" algn="l">
              <a:lnSpc>
                <a:spcPct val="100000"/>
              </a:lnSpc>
              <a:spcBef>
                <a:spcPts val="0"/>
              </a:spcBef>
              <a:spcAft>
                <a:spcPts val="0"/>
              </a:spcAft>
              <a:buClr>
                <a:srgbClr val="FFFFFF"/>
              </a:buClr>
              <a:buSzPts val="1800"/>
              <a:buNone/>
              <a:defRPr sz="1800">
                <a:solidFill>
                  <a:srgbClr val="FFFFFF"/>
                </a:solidFill>
              </a:defRPr>
            </a:lvl7pPr>
            <a:lvl8pPr lvl="7" rtl="0" algn="l">
              <a:lnSpc>
                <a:spcPct val="100000"/>
              </a:lnSpc>
              <a:spcBef>
                <a:spcPts val="0"/>
              </a:spcBef>
              <a:spcAft>
                <a:spcPts val="0"/>
              </a:spcAft>
              <a:buClr>
                <a:srgbClr val="FFFFFF"/>
              </a:buClr>
              <a:buSzPts val="1800"/>
              <a:buNone/>
              <a:defRPr sz="1800">
                <a:solidFill>
                  <a:srgbClr val="FFFFFF"/>
                </a:solidFill>
              </a:defRPr>
            </a:lvl8pPr>
            <a:lvl9pPr lvl="8" rtl="0" algn="l">
              <a:lnSpc>
                <a:spcPct val="100000"/>
              </a:lnSpc>
              <a:spcBef>
                <a:spcPts val="0"/>
              </a:spcBef>
              <a:spcAft>
                <a:spcPts val="0"/>
              </a:spcAft>
              <a:buClr>
                <a:srgbClr val="FFFFFF"/>
              </a:buClr>
              <a:buSzPts val="1800"/>
              <a:buNone/>
              <a:defRPr sz="1800">
                <a:solidFill>
                  <a:srgbClr val="FFFFFF"/>
                </a:solidFill>
              </a:defRPr>
            </a:lvl9pPr>
          </a:lstStyle>
          <a:p/>
        </p:txBody>
      </p:sp>
      <p:sp>
        <p:nvSpPr>
          <p:cNvPr id="54" name="Google Shape;54;p13"/>
          <p:cNvSpPr txBox="1"/>
          <p:nvPr>
            <p:ph type="ctrTitle"/>
          </p:nvPr>
        </p:nvSpPr>
        <p:spPr>
          <a:xfrm>
            <a:off x="335100" y="1714563"/>
            <a:ext cx="8473800" cy="1276200"/>
          </a:xfrm>
          <a:prstGeom prst="rect">
            <a:avLst/>
          </a:prstGeom>
          <a:noFill/>
        </p:spPr>
        <p:txBody>
          <a:bodyPr anchorCtr="0" anchor="b" bIns="91425" lIns="91425" spcFirstLastPara="1" rIns="91425" wrap="square" tIns="91425">
            <a:normAutofit/>
          </a:bodyPr>
          <a:lstStyle>
            <a:lvl1pPr lvl="0" rtl="0" algn="l">
              <a:lnSpc>
                <a:spcPct val="100000"/>
              </a:lnSpc>
              <a:spcBef>
                <a:spcPts val="0"/>
              </a:spcBef>
              <a:spcAft>
                <a:spcPts val="0"/>
              </a:spcAft>
              <a:buClr>
                <a:srgbClr val="FFFFFF"/>
              </a:buClr>
              <a:buSzPts val="3600"/>
              <a:buNone/>
              <a:defRPr b="1" sz="3600">
                <a:solidFill>
                  <a:srgbClr val="FFFFFF"/>
                </a:solidFill>
              </a:defRPr>
            </a:lvl1pPr>
            <a:lvl2pPr lvl="1" rtl="0" algn="l">
              <a:lnSpc>
                <a:spcPct val="100000"/>
              </a:lnSpc>
              <a:spcBef>
                <a:spcPts val="0"/>
              </a:spcBef>
              <a:spcAft>
                <a:spcPts val="0"/>
              </a:spcAft>
              <a:buClr>
                <a:srgbClr val="FFFFFF"/>
              </a:buClr>
              <a:buSzPts val="3600"/>
              <a:buNone/>
              <a:defRPr b="1" sz="3600">
                <a:solidFill>
                  <a:srgbClr val="FFFFFF"/>
                </a:solidFill>
              </a:defRPr>
            </a:lvl2pPr>
            <a:lvl3pPr lvl="2" rtl="0" algn="l">
              <a:lnSpc>
                <a:spcPct val="100000"/>
              </a:lnSpc>
              <a:spcBef>
                <a:spcPts val="0"/>
              </a:spcBef>
              <a:spcAft>
                <a:spcPts val="0"/>
              </a:spcAft>
              <a:buClr>
                <a:srgbClr val="FFFFFF"/>
              </a:buClr>
              <a:buSzPts val="3600"/>
              <a:buNone/>
              <a:defRPr b="1" sz="3600">
                <a:solidFill>
                  <a:srgbClr val="FFFFFF"/>
                </a:solidFill>
              </a:defRPr>
            </a:lvl3pPr>
            <a:lvl4pPr lvl="3" rtl="0" algn="l">
              <a:lnSpc>
                <a:spcPct val="100000"/>
              </a:lnSpc>
              <a:spcBef>
                <a:spcPts val="0"/>
              </a:spcBef>
              <a:spcAft>
                <a:spcPts val="0"/>
              </a:spcAft>
              <a:buClr>
                <a:srgbClr val="FFFFFF"/>
              </a:buClr>
              <a:buSzPts val="3600"/>
              <a:buNone/>
              <a:defRPr b="1" sz="3600">
                <a:solidFill>
                  <a:srgbClr val="FFFFFF"/>
                </a:solidFill>
              </a:defRPr>
            </a:lvl4pPr>
            <a:lvl5pPr lvl="4" rtl="0" algn="l">
              <a:lnSpc>
                <a:spcPct val="100000"/>
              </a:lnSpc>
              <a:spcBef>
                <a:spcPts val="0"/>
              </a:spcBef>
              <a:spcAft>
                <a:spcPts val="0"/>
              </a:spcAft>
              <a:buClr>
                <a:srgbClr val="FFFFFF"/>
              </a:buClr>
              <a:buSzPts val="3600"/>
              <a:buNone/>
              <a:defRPr b="1" sz="3600">
                <a:solidFill>
                  <a:srgbClr val="FFFFFF"/>
                </a:solidFill>
              </a:defRPr>
            </a:lvl5pPr>
            <a:lvl6pPr lvl="5" rtl="0" algn="l">
              <a:lnSpc>
                <a:spcPct val="100000"/>
              </a:lnSpc>
              <a:spcBef>
                <a:spcPts val="0"/>
              </a:spcBef>
              <a:spcAft>
                <a:spcPts val="0"/>
              </a:spcAft>
              <a:buClr>
                <a:srgbClr val="FFFFFF"/>
              </a:buClr>
              <a:buSzPts val="3600"/>
              <a:buNone/>
              <a:defRPr b="1" sz="3600">
                <a:solidFill>
                  <a:srgbClr val="FFFFFF"/>
                </a:solidFill>
              </a:defRPr>
            </a:lvl6pPr>
            <a:lvl7pPr lvl="6" rtl="0" algn="l">
              <a:lnSpc>
                <a:spcPct val="100000"/>
              </a:lnSpc>
              <a:spcBef>
                <a:spcPts val="0"/>
              </a:spcBef>
              <a:spcAft>
                <a:spcPts val="0"/>
              </a:spcAft>
              <a:buClr>
                <a:srgbClr val="FFFFFF"/>
              </a:buClr>
              <a:buSzPts val="3600"/>
              <a:buNone/>
              <a:defRPr b="1" sz="3600">
                <a:solidFill>
                  <a:srgbClr val="FFFFFF"/>
                </a:solidFill>
              </a:defRPr>
            </a:lvl7pPr>
            <a:lvl8pPr lvl="7" rtl="0" algn="l">
              <a:lnSpc>
                <a:spcPct val="100000"/>
              </a:lnSpc>
              <a:spcBef>
                <a:spcPts val="0"/>
              </a:spcBef>
              <a:spcAft>
                <a:spcPts val="0"/>
              </a:spcAft>
              <a:buClr>
                <a:srgbClr val="FFFFFF"/>
              </a:buClr>
              <a:buSzPts val="3600"/>
              <a:buNone/>
              <a:defRPr b="1" sz="3600">
                <a:solidFill>
                  <a:srgbClr val="FFFFFF"/>
                </a:solidFill>
              </a:defRPr>
            </a:lvl8pPr>
            <a:lvl9pPr lvl="8" rtl="0" algn="l">
              <a:lnSpc>
                <a:spcPct val="100000"/>
              </a:lnSpc>
              <a:spcBef>
                <a:spcPts val="0"/>
              </a:spcBef>
              <a:spcAft>
                <a:spcPts val="0"/>
              </a:spcAft>
              <a:buClr>
                <a:srgbClr val="FFFFFF"/>
              </a:buClr>
              <a:buSzPts val="3600"/>
              <a:buNone/>
              <a:defRPr b="1" sz="3600">
                <a:solidFill>
                  <a:srgbClr val="FFFFFF"/>
                </a:solidFill>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19.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 Id="rId3" Type="http://schemas.openxmlformats.org/officeDocument/2006/relationships/image" Target="../media/image1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 Id="rId3" Type="http://schemas.openxmlformats.org/officeDocument/2006/relationships/image" Target="../media/image9.png"/><Relationship Id="rId4" Type="http://schemas.openxmlformats.org/officeDocument/2006/relationships/hyperlink" Target="https://chinesemartialstudies.com/2012/12/14/forgetting-about-the-gun-firearms-and-the-development-of-the-southern-chinese-martial-arts/godrons-bodyguard-ever-victorious-army-taiping-rebellion/"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5.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image" Target="../media/image10.jpg"/><Relationship Id="rId4" Type="http://schemas.openxmlformats.org/officeDocument/2006/relationships/image" Target="../media/image3.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 Id="rId3" Type="http://schemas.openxmlformats.org/officeDocument/2006/relationships/image" Target="../media/image8.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Relationship Id="rId3" Type="http://schemas.openxmlformats.org/officeDocument/2006/relationships/image" Target="../media/image18.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image" Target="../media/image1.jpg"/><Relationship Id="rId4" Type="http://schemas.openxmlformats.org/officeDocument/2006/relationships/image" Target="../media/image14.jpg"/><Relationship Id="rId5" Type="http://schemas.openxmlformats.org/officeDocument/2006/relationships/image" Target="../media/image7.jpg"/><Relationship Id="rId6" Type="http://schemas.openxmlformats.org/officeDocument/2006/relationships/image" Target="../media/image12.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image" Target="../media/image13.jpg"/><Relationship Id="rId4" Type="http://schemas.openxmlformats.org/officeDocument/2006/relationships/image" Target="../media/image6.jpg"/><Relationship Id="rId5" Type="http://schemas.openxmlformats.org/officeDocument/2006/relationships/image" Target="../media/image16.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 Id="rId3" Type="http://schemas.openxmlformats.org/officeDocument/2006/relationships/hyperlink" Target="https://canvas.emory.edu/courses/118261/files/10600295?wrap=1" TargetMode="External"/><Relationship Id="rId4" Type="http://schemas.openxmlformats.org/officeDocument/2006/relationships/hyperlink" Target="https://canvas.emory.edu/courses/118261/files/10600308?wrap=1"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 Id="rId3" Type="http://schemas.openxmlformats.org/officeDocument/2006/relationships/image" Target="../media/image17.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 Id="rId3" Type="http://schemas.openxmlformats.org/officeDocument/2006/relationships/image" Target="../media/image4.png"/><Relationship Id="rId4" Type="http://schemas.openxmlformats.org/officeDocument/2006/relationships/image" Target="../media/image15.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 Id="rId3" Type="http://schemas.openxmlformats.org/officeDocument/2006/relationships/image" Target="../media/image2.jpg"/><Relationship Id="rId4" Type="http://schemas.openxmlformats.org/officeDocument/2006/relationships/hyperlink" Target="https://zh.wikipedia.org/wiki/File:%E5%85%AB%E5%85%AD%E5%AD%A6%E6%BD%AE.jpeg"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pic>
        <p:nvPicPr>
          <p:cNvPr id="59" name="Google Shape;59;p14"/>
          <p:cNvPicPr preferRelativeResize="0"/>
          <p:nvPr/>
        </p:nvPicPr>
        <p:blipFill rotWithShape="1">
          <a:blip r:embed="rId3">
            <a:alphaModFix/>
          </a:blip>
          <a:srcRect b="268" l="0" r="0" t="278"/>
          <a:stretch/>
        </p:blipFill>
        <p:spPr>
          <a:xfrm>
            <a:off x="0" y="0"/>
            <a:ext cx="9144000" cy="5143499"/>
          </a:xfrm>
          <a:prstGeom prst="rect">
            <a:avLst/>
          </a:prstGeom>
          <a:noFill/>
          <a:ln>
            <a:noFill/>
          </a:ln>
        </p:spPr>
      </p:pic>
      <p:sp>
        <p:nvSpPr>
          <p:cNvPr id="60" name="Google Shape;60;p14"/>
          <p:cNvSpPr/>
          <p:nvPr/>
        </p:nvSpPr>
        <p:spPr>
          <a:xfrm>
            <a:off x="0" y="1286025"/>
            <a:ext cx="9144000" cy="2571600"/>
          </a:xfrm>
          <a:prstGeom prst="rect">
            <a:avLst/>
          </a:prstGeom>
          <a:solidFill>
            <a:srgbClr val="000000">
              <a:alpha val="47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14"/>
          <p:cNvSpPr txBox="1"/>
          <p:nvPr>
            <p:ph type="ctrTitle"/>
          </p:nvPr>
        </p:nvSpPr>
        <p:spPr>
          <a:xfrm>
            <a:off x="279850" y="1933713"/>
            <a:ext cx="8473800" cy="12762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n" sz="1550"/>
              <a:t>CHN 375W: </a:t>
            </a:r>
            <a:r>
              <a:rPr lang="en" sz="1550">
                <a:solidFill>
                  <a:schemeClr val="lt1"/>
                </a:solidFill>
              </a:rPr>
              <a:t>Chinese Political Thought &amp; Propaganda</a:t>
            </a:r>
            <a:endParaRPr/>
          </a:p>
          <a:p>
            <a:pPr indent="0" lvl="0" marL="0" rtl="0" algn="l">
              <a:spcBef>
                <a:spcPts val="0"/>
              </a:spcBef>
              <a:spcAft>
                <a:spcPts val="0"/>
              </a:spcAft>
              <a:buNone/>
            </a:pPr>
            <a:r>
              <a:rPr lang="en" sz="4000"/>
              <a:t>Social Movements and Social Change</a:t>
            </a:r>
            <a:endParaRPr sz="4000"/>
          </a:p>
        </p:txBody>
      </p:sp>
      <p:sp>
        <p:nvSpPr>
          <p:cNvPr id="62" name="Google Shape;62;p14"/>
          <p:cNvSpPr txBox="1"/>
          <p:nvPr/>
        </p:nvSpPr>
        <p:spPr>
          <a:xfrm>
            <a:off x="152400" y="4423400"/>
            <a:ext cx="52599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rgbClr val="999999"/>
                </a:solidFill>
                <a:latin typeface="Oswald ExtraLight"/>
                <a:ea typeface="Oswald ExtraLight"/>
                <a:cs typeface="Oswald ExtraLight"/>
                <a:sym typeface="Oswald ExtraLight"/>
              </a:rPr>
              <a:t>Admiralty protest site"  Admiralty, Hong Kong . Digital photography by Keren Wang, Nov. 15, 2014.</a:t>
            </a:r>
            <a:endParaRPr sz="1000">
              <a:solidFill>
                <a:srgbClr val="999999"/>
              </a:solidFill>
              <a:latin typeface="Oswald ExtraLight"/>
              <a:ea typeface="Oswald ExtraLight"/>
              <a:cs typeface="Oswald ExtraLight"/>
              <a:sym typeface="Oswald ExtraLight"/>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5"/>
          <p:cNvSpPr txBox="1"/>
          <p:nvPr>
            <p:ph type="title"/>
          </p:nvPr>
        </p:nvSpPr>
        <p:spPr>
          <a:xfrm>
            <a:off x="311700" y="3932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lang="en" sz="2420"/>
              <a:t>Research Constraints for Modern Chinese Social Movements</a:t>
            </a:r>
            <a:endParaRPr sz="2420"/>
          </a:p>
        </p:txBody>
      </p:sp>
      <p:sp>
        <p:nvSpPr>
          <p:cNvPr id="68" name="Google Shape;68;p15"/>
          <p:cNvSpPr txBox="1"/>
          <p:nvPr>
            <p:ph idx="1" type="body"/>
          </p:nvPr>
        </p:nvSpPr>
        <p:spPr>
          <a:xfrm>
            <a:off x="311700" y="1256125"/>
            <a:ext cx="3999900" cy="3416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a:t>Difficulty to obtain accurate, unbiased facts</a:t>
            </a:r>
            <a:endParaRPr/>
          </a:p>
          <a:p>
            <a:pPr indent="-317500" lvl="0" marL="457200" rtl="0" algn="l">
              <a:spcBef>
                <a:spcPts val="1200"/>
              </a:spcBef>
              <a:spcAft>
                <a:spcPts val="0"/>
              </a:spcAft>
              <a:buSzPts val="1400"/>
              <a:buChar char="●"/>
            </a:pPr>
            <a:r>
              <a:rPr lang="en"/>
              <a:t>Impossible for post-Cultural Revolution events</a:t>
            </a:r>
            <a:endParaRPr/>
          </a:p>
          <a:p>
            <a:pPr indent="-317500" lvl="0" marL="457200" rtl="0" algn="l">
              <a:spcBef>
                <a:spcPts val="0"/>
              </a:spcBef>
              <a:spcAft>
                <a:spcPts val="0"/>
              </a:spcAft>
              <a:buSzPts val="1400"/>
              <a:buChar char="●"/>
            </a:pPr>
            <a:r>
              <a:rPr lang="en"/>
              <a:t>Censorship</a:t>
            </a:r>
            <a:endParaRPr/>
          </a:p>
          <a:p>
            <a:pPr indent="-317500" lvl="0" marL="457200" rtl="0" algn="l">
              <a:spcBef>
                <a:spcPts val="0"/>
              </a:spcBef>
              <a:spcAft>
                <a:spcPts val="0"/>
              </a:spcAft>
              <a:buSzPts val="1400"/>
              <a:buChar char="●"/>
            </a:pPr>
            <a:r>
              <a:rPr lang="en"/>
              <a:t>Access</a:t>
            </a:r>
            <a:endParaRPr/>
          </a:p>
          <a:p>
            <a:pPr indent="0" lvl="0" marL="0" rtl="0" algn="l">
              <a:spcBef>
                <a:spcPts val="1200"/>
              </a:spcBef>
              <a:spcAft>
                <a:spcPts val="0"/>
              </a:spcAft>
              <a:buNone/>
            </a:pPr>
            <a:r>
              <a:rPr lang="en"/>
              <a:t>Politicization</a:t>
            </a:r>
            <a:endParaRPr/>
          </a:p>
          <a:p>
            <a:pPr indent="-317500" lvl="0" marL="457200" rtl="0" algn="l">
              <a:spcBef>
                <a:spcPts val="1200"/>
              </a:spcBef>
              <a:spcAft>
                <a:spcPts val="0"/>
              </a:spcAft>
              <a:buSzPts val="1400"/>
              <a:buChar char="●"/>
            </a:pPr>
            <a:r>
              <a:rPr lang="en"/>
              <a:t>Domestic</a:t>
            </a:r>
            <a:endParaRPr/>
          </a:p>
          <a:p>
            <a:pPr indent="-317500" lvl="0" marL="457200" rtl="0" algn="l">
              <a:spcBef>
                <a:spcPts val="0"/>
              </a:spcBef>
              <a:spcAft>
                <a:spcPts val="0"/>
              </a:spcAft>
              <a:buSzPts val="1400"/>
              <a:buChar char="●"/>
            </a:pPr>
            <a:r>
              <a:rPr lang="en"/>
              <a:t>International: geopolitical environment; legacy of the Cold War; emerging “new” Cold War b/w US &amp; China</a:t>
            </a:r>
            <a:endParaRPr/>
          </a:p>
          <a:p>
            <a:pPr indent="0" lvl="0" marL="0" rtl="0" algn="l">
              <a:spcBef>
                <a:spcPts val="1200"/>
              </a:spcBef>
              <a:spcAft>
                <a:spcPts val="1200"/>
              </a:spcAft>
              <a:buNone/>
            </a:pPr>
            <a:r>
              <a:rPr b="1" lang="en"/>
              <a:t>Media bias &amp; information filters:</a:t>
            </a:r>
            <a:endParaRPr b="1"/>
          </a:p>
        </p:txBody>
      </p:sp>
      <p:sp>
        <p:nvSpPr>
          <p:cNvPr id="69" name="Google Shape;69;p15"/>
          <p:cNvSpPr txBox="1"/>
          <p:nvPr/>
        </p:nvSpPr>
        <p:spPr>
          <a:xfrm>
            <a:off x="3833400" y="2527200"/>
            <a:ext cx="1477200" cy="534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rgbClr val="FFFFFF"/>
                </a:solidFill>
                <a:latin typeface="Roboto"/>
                <a:ea typeface="Roboto"/>
                <a:cs typeface="Roboto"/>
                <a:sym typeface="Roboto"/>
              </a:rPr>
              <a:t>Vestibulum congue </a:t>
            </a:r>
            <a:endParaRPr sz="1000">
              <a:solidFill>
                <a:srgbClr val="FFFFFF"/>
              </a:solidFill>
              <a:latin typeface="Roboto"/>
              <a:ea typeface="Roboto"/>
              <a:cs typeface="Roboto"/>
              <a:sym typeface="Roboto"/>
            </a:endParaRPr>
          </a:p>
        </p:txBody>
      </p:sp>
      <p:grpSp>
        <p:nvGrpSpPr>
          <p:cNvPr id="70" name="Google Shape;70;p15"/>
          <p:cNvGrpSpPr/>
          <p:nvPr/>
        </p:nvGrpSpPr>
        <p:grpSpPr>
          <a:xfrm>
            <a:off x="4276696" y="1116823"/>
            <a:ext cx="4696139" cy="3136783"/>
            <a:chOff x="1554522" y="588900"/>
            <a:chExt cx="4251823" cy="2900937"/>
          </a:xfrm>
        </p:grpSpPr>
        <p:sp>
          <p:nvSpPr>
            <p:cNvPr id="71" name="Google Shape;71;p15"/>
            <p:cNvSpPr/>
            <p:nvPr/>
          </p:nvSpPr>
          <p:spPr>
            <a:xfrm>
              <a:off x="2784337" y="995912"/>
              <a:ext cx="1792200" cy="1792200"/>
            </a:xfrm>
            <a:prstGeom prst="donut">
              <a:avLst>
                <a:gd fmla="val 16067" name="adj"/>
              </a:avLst>
            </a:prstGeom>
            <a:solidFill>
              <a:srgbClr val="000000">
                <a:alpha val="107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2" name="Google Shape;72;p15"/>
            <p:cNvGrpSpPr/>
            <p:nvPr/>
          </p:nvGrpSpPr>
          <p:grpSpPr>
            <a:xfrm>
              <a:off x="4136707" y="774334"/>
              <a:ext cx="1345303" cy="480075"/>
              <a:chOff x="5214050" y="851693"/>
              <a:chExt cx="1906608" cy="680379"/>
            </a:xfrm>
          </p:grpSpPr>
          <p:cxnSp>
            <p:nvCxnSpPr>
              <p:cNvPr id="73" name="Google Shape;73;p15"/>
              <p:cNvCxnSpPr/>
              <p:nvPr/>
            </p:nvCxnSpPr>
            <p:spPr>
              <a:xfrm flipH="1">
                <a:off x="5214050" y="1153772"/>
                <a:ext cx="273000" cy="378300"/>
              </a:xfrm>
              <a:prstGeom prst="straightConnector1">
                <a:avLst/>
              </a:prstGeom>
              <a:noFill/>
              <a:ln cap="flat" cmpd="sng" w="19050">
                <a:solidFill>
                  <a:srgbClr val="085631"/>
                </a:solidFill>
                <a:prstDash val="solid"/>
                <a:round/>
                <a:headEnd len="med" w="med" type="oval"/>
                <a:tailEnd len="sm" w="sm" type="none"/>
              </a:ln>
            </p:spPr>
          </p:cxnSp>
          <p:sp>
            <p:nvSpPr>
              <p:cNvPr id="74" name="Google Shape;74;p15"/>
              <p:cNvSpPr txBox="1"/>
              <p:nvPr/>
            </p:nvSpPr>
            <p:spPr>
              <a:xfrm>
                <a:off x="5625458" y="851693"/>
                <a:ext cx="1495200" cy="669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1200">
                    <a:latin typeface="Roboto"/>
                    <a:ea typeface="Roboto"/>
                    <a:cs typeface="Roboto"/>
                    <a:sym typeface="Roboto"/>
                  </a:rPr>
                  <a:t>Ownership &amp; Sponsorship Interests</a:t>
                </a:r>
                <a:endParaRPr b="1" sz="1200">
                  <a:latin typeface="Roboto"/>
                  <a:ea typeface="Roboto"/>
                  <a:cs typeface="Roboto"/>
                  <a:sym typeface="Roboto"/>
                </a:endParaRPr>
              </a:p>
            </p:txBody>
          </p:sp>
        </p:grpSp>
        <p:grpSp>
          <p:nvGrpSpPr>
            <p:cNvPr id="75" name="Google Shape;75;p15"/>
            <p:cNvGrpSpPr/>
            <p:nvPr/>
          </p:nvGrpSpPr>
          <p:grpSpPr>
            <a:xfrm>
              <a:off x="1941023" y="774334"/>
              <a:ext cx="1274108" cy="480075"/>
              <a:chOff x="2102252" y="851693"/>
              <a:chExt cx="1805709" cy="680379"/>
            </a:xfrm>
          </p:grpSpPr>
          <p:cxnSp>
            <p:nvCxnSpPr>
              <p:cNvPr id="76" name="Google Shape;76;p15"/>
              <p:cNvCxnSpPr/>
              <p:nvPr/>
            </p:nvCxnSpPr>
            <p:spPr>
              <a:xfrm>
                <a:off x="3634961" y="1153772"/>
                <a:ext cx="273000" cy="378300"/>
              </a:xfrm>
              <a:prstGeom prst="straightConnector1">
                <a:avLst/>
              </a:prstGeom>
              <a:noFill/>
              <a:ln cap="flat" cmpd="sng" w="19050">
                <a:solidFill>
                  <a:srgbClr val="65F0AD"/>
                </a:solidFill>
                <a:prstDash val="solid"/>
                <a:round/>
                <a:headEnd len="med" w="med" type="oval"/>
                <a:tailEnd len="sm" w="sm" type="none"/>
              </a:ln>
            </p:spPr>
          </p:cxnSp>
          <p:sp>
            <p:nvSpPr>
              <p:cNvPr id="77" name="Google Shape;77;p15"/>
              <p:cNvSpPr txBox="1"/>
              <p:nvPr/>
            </p:nvSpPr>
            <p:spPr>
              <a:xfrm>
                <a:off x="2102252" y="851693"/>
                <a:ext cx="1495200" cy="669600"/>
              </a:xfrm>
              <a:prstGeom prst="rect">
                <a:avLst/>
              </a:prstGeom>
              <a:noFill/>
              <a:ln>
                <a:noFill/>
              </a:ln>
            </p:spPr>
            <p:txBody>
              <a:bodyPr anchorCtr="0" anchor="t" bIns="91425" lIns="91425" spcFirstLastPara="1" rIns="91425" wrap="square" tIns="91425">
                <a:noAutofit/>
              </a:bodyPr>
              <a:lstStyle/>
              <a:p>
                <a:pPr indent="0" lvl="0" marL="0" rtl="0" algn="r">
                  <a:lnSpc>
                    <a:spcPct val="115000"/>
                  </a:lnSpc>
                  <a:spcBef>
                    <a:spcPts val="0"/>
                  </a:spcBef>
                  <a:spcAft>
                    <a:spcPts val="0"/>
                  </a:spcAft>
                  <a:buNone/>
                </a:pPr>
                <a:r>
                  <a:t/>
                </a:r>
                <a:endParaRPr sz="600">
                  <a:latin typeface="Roboto"/>
                  <a:ea typeface="Roboto"/>
                  <a:cs typeface="Roboto"/>
                  <a:sym typeface="Roboto"/>
                </a:endParaRPr>
              </a:p>
              <a:p>
                <a:pPr indent="0" lvl="0" marL="0" rtl="0" algn="r">
                  <a:lnSpc>
                    <a:spcPct val="115000"/>
                  </a:lnSpc>
                  <a:spcBef>
                    <a:spcPts val="0"/>
                  </a:spcBef>
                  <a:spcAft>
                    <a:spcPts val="0"/>
                  </a:spcAft>
                  <a:buNone/>
                </a:pPr>
                <a:r>
                  <a:rPr b="1" lang="en" sz="1200">
                    <a:latin typeface="Roboto"/>
                    <a:ea typeface="Roboto"/>
                    <a:cs typeface="Roboto"/>
                    <a:sym typeface="Roboto"/>
                  </a:rPr>
                  <a:t>Technological Filters</a:t>
                </a:r>
                <a:endParaRPr b="1" sz="1200">
                  <a:latin typeface="Roboto"/>
                  <a:ea typeface="Roboto"/>
                  <a:cs typeface="Roboto"/>
                  <a:sym typeface="Roboto"/>
                </a:endParaRPr>
              </a:p>
            </p:txBody>
          </p:sp>
        </p:grpSp>
        <p:grpSp>
          <p:nvGrpSpPr>
            <p:cNvPr id="78" name="Google Shape;78;p15"/>
            <p:cNvGrpSpPr/>
            <p:nvPr/>
          </p:nvGrpSpPr>
          <p:grpSpPr>
            <a:xfrm>
              <a:off x="4427009" y="2061257"/>
              <a:ext cx="1379337" cy="472470"/>
              <a:chOff x="5625475" y="2675563"/>
              <a:chExt cx="1954842" cy="669600"/>
            </a:xfrm>
          </p:grpSpPr>
          <p:cxnSp>
            <p:nvCxnSpPr>
              <p:cNvPr id="79" name="Google Shape;79;p15"/>
              <p:cNvCxnSpPr/>
              <p:nvPr/>
            </p:nvCxnSpPr>
            <p:spPr>
              <a:xfrm rot="10800000">
                <a:off x="5625475" y="2771675"/>
                <a:ext cx="442200" cy="153300"/>
              </a:xfrm>
              <a:prstGeom prst="straightConnector1">
                <a:avLst/>
              </a:prstGeom>
              <a:noFill/>
              <a:ln cap="flat" cmpd="sng" w="19050">
                <a:solidFill>
                  <a:srgbClr val="0E9453"/>
                </a:solidFill>
                <a:prstDash val="solid"/>
                <a:round/>
                <a:headEnd len="med" w="med" type="oval"/>
                <a:tailEnd len="sm" w="sm" type="none"/>
              </a:ln>
            </p:spPr>
          </p:cxnSp>
          <p:sp>
            <p:nvSpPr>
              <p:cNvPr id="80" name="Google Shape;80;p15"/>
              <p:cNvSpPr txBox="1"/>
              <p:nvPr/>
            </p:nvSpPr>
            <p:spPr>
              <a:xfrm>
                <a:off x="6085117" y="2675563"/>
                <a:ext cx="1495200" cy="669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1200">
                    <a:latin typeface="Roboto"/>
                    <a:ea typeface="Roboto"/>
                    <a:cs typeface="Roboto"/>
                    <a:sym typeface="Roboto"/>
                  </a:rPr>
                  <a:t>Sourcing Bias</a:t>
                </a:r>
                <a:endParaRPr b="1" sz="1200">
                  <a:latin typeface="Roboto"/>
                  <a:ea typeface="Roboto"/>
                  <a:cs typeface="Roboto"/>
                  <a:sym typeface="Roboto"/>
                </a:endParaRPr>
              </a:p>
            </p:txBody>
          </p:sp>
        </p:grpSp>
        <p:grpSp>
          <p:nvGrpSpPr>
            <p:cNvPr id="81" name="Google Shape;81;p15"/>
            <p:cNvGrpSpPr/>
            <p:nvPr/>
          </p:nvGrpSpPr>
          <p:grpSpPr>
            <a:xfrm>
              <a:off x="1554522" y="1987948"/>
              <a:ext cx="1379578" cy="472470"/>
              <a:chOff x="1554490" y="2571667"/>
              <a:chExt cx="1955185" cy="669600"/>
            </a:xfrm>
          </p:grpSpPr>
          <p:cxnSp>
            <p:nvCxnSpPr>
              <p:cNvPr id="82" name="Google Shape;82;p15"/>
              <p:cNvCxnSpPr/>
              <p:nvPr/>
            </p:nvCxnSpPr>
            <p:spPr>
              <a:xfrm flipH="1" rot="10800000">
                <a:off x="3059375" y="2771675"/>
                <a:ext cx="450300" cy="145200"/>
              </a:xfrm>
              <a:prstGeom prst="straightConnector1">
                <a:avLst/>
              </a:prstGeom>
              <a:noFill/>
              <a:ln cap="flat" cmpd="sng" w="19050">
                <a:solidFill>
                  <a:srgbClr val="0E9453"/>
                </a:solidFill>
                <a:prstDash val="solid"/>
                <a:round/>
                <a:headEnd len="med" w="med" type="oval"/>
                <a:tailEnd len="sm" w="sm" type="none"/>
              </a:ln>
            </p:spPr>
          </p:cxnSp>
          <p:sp>
            <p:nvSpPr>
              <p:cNvPr id="83" name="Google Shape;83;p15"/>
              <p:cNvSpPr txBox="1"/>
              <p:nvPr/>
            </p:nvSpPr>
            <p:spPr>
              <a:xfrm>
                <a:off x="1554490" y="2571667"/>
                <a:ext cx="1495200" cy="669600"/>
              </a:xfrm>
              <a:prstGeom prst="rect">
                <a:avLst/>
              </a:prstGeom>
              <a:noFill/>
              <a:ln>
                <a:noFill/>
              </a:ln>
            </p:spPr>
            <p:txBody>
              <a:bodyPr anchorCtr="0" anchor="t" bIns="91425" lIns="91425" spcFirstLastPara="1" rIns="91425" wrap="square" tIns="91425">
                <a:noAutofit/>
              </a:bodyPr>
              <a:lstStyle/>
              <a:p>
                <a:pPr indent="0" lvl="0" marL="0" rtl="0" algn="r">
                  <a:lnSpc>
                    <a:spcPct val="115000"/>
                  </a:lnSpc>
                  <a:spcBef>
                    <a:spcPts val="0"/>
                  </a:spcBef>
                  <a:spcAft>
                    <a:spcPts val="0"/>
                  </a:spcAft>
                  <a:buNone/>
                </a:pPr>
                <a:r>
                  <a:rPr b="1" lang="en" sz="1200">
                    <a:latin typeface="Roboto"/>
                    <a:ea typeface="Roboto"/>
                    <a:cs typeface="Roboto"/>
                    <a:sym typeface="Roboto"/>
                  </a:rPr>
                  <a:t>Market Bias</a:t>
                </a:r>
                <a:endParaRPr b="1" sz="1200">
                  <a:latin typeface="Roboto"/>
                  <a:ea typeface="Roboto"/>
                  <a:cs typeface="Roboto"/>
                  <a:sym typeface="Roboto"/>
                </a:endParaRPr>
              </a:p>
            </p:txBody>
          </p:sp>
        </p:grpSp>
        <p:grpSp>
          <p:nvGrpSpPr>
            <p:cNvPr id="84" name="Google Shape;84;p15"/>
            <p:cNvGrpSpPr/>
            <p:nvPr/>
          </p:nvGrpSpPr>
          <p:grpSpPr>
            <a:xfrm>
              <a:off x="2786524" y="2671910"/>
              <a:ext cx="1792295" cy="817928"/>
              <a:chOff x="3300525" y="3541000"/>
              <a:chExt cx="2540100" cy="1159194"/>
            </a:xfrm>
          </p:grpSpPr>
          <p:cxnSp>
            <p:nvCxnSpPr>
              <p:cNvPr id="85" name="Google Shape;85;p15"/>
              <p:cNvCxnSpPr/>
              <p:nvPr/>
            </p:nvCxnSpPr>
            <p:spPr>
              <a:xfrm rot="10800000">
                <a:off x="4563402" y="3541000"/>
                <a:ext cx="0" cy="489600"/>
              </a:xfrm>
              <a:prstGeom prst="straightConnector1">
                <a:avLst/>
              </a:prstGeom>
              <a:noFill/>
              <a:ln cap="flat" cmpd="sng" w="19050">
                <a:solidFill>
                  <a:srgbClr val="085631"/>
                </a:solidFill>
                <a:prstDash val="solid"/>
                <a:round/>
                <a:headEnd len="med" w="med" type="oval"/>
                <a:tailEnd len="sm" w="sm" type="none"/>
              </a:ln>
            </p:spPr>
          </p:cxnSp>
          <p:sp>
            <p:nvSpPr>
              <p:cNvPr id="86" name="Google Shape;86;p15"/>
              <p:cNvSpPr txBox="1"/>
              <p:nvPr/>
            </p:nvSpPr>
            <p:spPr>
              <a:xfrm>
                <a:off x="3300525" y="4030594"/>
                <a:ext cx="2540100" cy="6696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n" sz="1100">
                    <a:latin typeface="Roboto"/>
                    <a:ea typeface="Roboto"/>
                    <a:cs typeface="Roboto"/>
                    <a:sym typeface="Roboto"/>
                  </a:rPr>
                  <a:t>Social, cultural &amp; institutional Biases</a:t>
                </a:r>
                <a:endParaRPr b="1" sz="1100">
                  <a:latin typeface="Roboto"/>
                  <a:ea typeface="Roboto"/>
                  <a:cs typeface="Roboto"/>
                  <a:sym typeface="Roboto"/>
                </a:endParaRPr>
              </a:p>
            </p:txBody>
          </p:sp>
        </p:grpSp>
        <p:sp>
          <p:nvSpPr>
            <p:cNvPr id="87" name="Google Shape;87;p15"/>
            <p:cNvSpPr/>
            <p:nvPr/>
          </p:nvSpPr>
          <p:spPr>
            <a:xfrm rot="1800256">
              <a:off x="2729441" y="939987"/>
              <a:ext cx="1898756" cy="1898756"/>
            </a:xfrm>
            <a:prstGeom prst="blockArc">
              <a:avLst>
                <a:gd fmla="val 14414370" name="adj1"/>
                <a:gd fmla="val 18998613" name="adj2"/>
                <a:gd fmla="val 8907" name="adj3"/>
              </a:avLst>
            </a:prstGeom>
            <a:solidFill>
              <a:srgbClr val="085631"/>
            </a:solidFill>
            <a:ln>
              <a:noFill/>
            </a:ln>
            <a:effectLst>
              <a:outerShdw blurRad="71438" rotWithShape="0" algn="bl" dir="5400000" dist="9525">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15"/>
            <p:cNvSpPr/>
            <p:nvPr/>
          </p:nvSpPr>
          <p:spPr>
            <a:xfrm flipH="1" rot="-9000884">
              <a:off x="2733650" y="938855"/>
              <a:ext cx="1898046" cy="1898046"/>
            </a:xfrm>
            <a:prstGeom prst="blockArc">
              <a:avLst>
                <a:gd fmla="val 20178804" name="adj1"/>
                <a:gd fmla="val 2623923" name="adj2"/>
                <a:gd fmla="val 8858" name="adj3"/>
              </a:avLst>
            </a:prstGeom>
            <a:solidFill>
              <a:srgbClr val="0E9453"/>
            </a:solidFill>
            <a:ln>
              <a:noFill/>
            </a:ln>
            <a:effectLst>
              <a:outerShdw blurRad="71438" rotWithShape="0" algn="bl" dir="5400000" dist="9525">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15"/>
            <p:cNvSpPr txBox="1"/>
            <p:nvPr/>
          </p:nvSpPr>
          <p:spPr>
            <a:xfrm>
              <a:off x="3015025" y="1624400"/>
              <a:ext cx="1327500" cy="5676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1200"/>
                </a:spcAft>
                <a:buSzPts val="852"/>
                <a:buNone/>
              </a:pPr>
              <a:r>
                <a:rPr b="1" lang="en" sz="1185">
                  <a:solidFill>
                    <a:schemeClr val="dk1"/>
                  </a:solidFill>
                </a:rPr>
                <a:t>Media bias &amp; information filters:</a:t>
              </a:r>
              <a:endParaRPr b="1" sz="1030">
                <a:solidFill>
                  <a:schemeClr val="dk1"/>
                </a:solidFill>
                <a:latin typeface="Roboto"/>
                <a:ea typeface="Roboto"/>
                <a:cs typeface="Roboto"/>
                <a:sym typeface="Roboto"/>
              </a:endParaRPr>
            </a:p>
          </p:txBody>
        </p:sp>
        <p:sp>
          <p:nvSpPr>
            <p:cNvPr id="90" name="Google Shape;90;p15"/>
            <p:cNvSpPr/>
            <p:nvPr/>
          </p:nvSpPr>
          <p:spPr>
            <a:xfrm rot="-3782687">
              <a:off x="4378403" y="1484412"/>
              <a:ext cx="256125" cy="256125"/>
            </a:xfrm>
            <a:prstGeom prst="rtTriangle">
              <a:avLst/>
            </a:prstGeom>
            <a:solidFill>
              <a:srgbClr val="08563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15"/>
            <p:cNvSpPr/>
            <p:nvPr/>
          </p:nvSpPr>
          <p:spPr>
            <a:xfrm flipH="1" rot="-1800289">
              <a:off x="2726169" y="937188"/>
              <a:ext cx="1902923" cy="1902923"/>
            </a:xfrm>
            <a:prstGeom prst="blockArc">
              <a:avLst>
                <a:gd fmla="val 14334136" name="adj1"/>
                <a:gd fmla="val 18854681" name="adj2"/>
                <a:gd fmla="val 8846" name="adj3"/>
              </a:avLst>
            </a:prstGeom>
            <a:solidFill>
              <a:srgbClr val="65F0AD"/>
            </a:solidFill>
            <a:ln>
              <a:noFill/>
            </a:ln>
            <a:effectLst>
              <a:outerShdw blurRad="71438" rotWithShape="0" algn="bl" dir="5400000" dist="9525">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15"/>
            <p:cNvSpPr/>
            <p:nvPr/>
          </p:nvSpPr>
          <p:spPr>
            <a:xfrm rot="9000884">
              <a:off x="2720959" y="940848"/>
              <a:ext cx="1898046" cy="1898046"/>
            </a:xfrm>
            <a:prstGeom prst="blockArc">
              <a:avLst>
                <a:gd fmla="val 20184517" name="adj1"/>
                <a:gd fmla="val 3007258" name="adj2"/>
                <a:gd fmla="val 9336" name="adj3"/>
              </a:avLst>
            </a:prstGeom>
            <a:solidFill>
              <a:srgbClr val="0E9453"/>
            </a:solidFill>
            <a:ln cap="flat" cmpd="sng" w="9525">
              <a:solidFill>
                <a:srgbClr val="0E9453"/>
              </a:solidFill>
              <a:prstDash val="solid"/>
              <a:round/>
              <a:headEnd len="sm" w="sm" type="none"/>
              <a:tailEnd len="sm" w="sm" type="none"/>
            </a:ln>
            <a:effectLst>
              <a:outerShdw blurRad="71438" rotWithShape="0" algn="bl" dir="5400000" dist="9525">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15"/>
            <p:cNvSpPr/>
            <p:nvPr/>
          </p:nvSpPr>
          <p:spPr>
            <a:xfrm flipH="1" rot="-9000884">
              <a:off x="2720817" y="941924"/>
              <a:ext cx="1898046" cy="1898046"/>
            </a:xfrm>
            <a:prstGeom prst="blockArc">
              <a:avLst>
                <a:gd fmla="val 15738599" name="adj1"/>
                <a:gd fmla="val 20008131" name="adj2"/>
                <a:gd fmla="val 9063" name="adj3"/>
              </a:avLst>
            </a:prstGeom>
            <a:solidFill>
              <a:srgbClr val="085631"/>
            </a:solidFill>
            <a:ln>
              <a:noFill/>
            </a:ln>
            <a:effectLst>
              <a:outerShdw blurRad="71438" rotWithShape="0" algn="bl" dir="5400000" dist="9525">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15"/>
            <p:cNvSpPr/>
            <p:nvPr/>
          </p:nvSpPr>
          <p:spPr>
            <a:xfrm rot="9238477">
              <a:off x="2725112" y="1484279"/>
              <a:ext cx="256399" cy="256399"/>
            </a:xfrm>
            <a:prstGeom prst="rtTriangle">
              <a:avLst/>
            </a:prstGeom>
            <a:solidFill>
              <a:srgbClr val="0E945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15"/>
            <p:cNvSpPr/>
            <p:nvPr/>
          </p:nvSpPr>
          <p:spPr>
            <a:xfrm rot="476980">
              <a:off x="4070205" y="2458937"/>
              <a:ext cx="255960" cy="255960"/>
            </a:xfrm>
            <a:prstGeom prst="rtTriangle">
              <a:avLst/>
            </a:prstGeom>
            <a:solidFill>
              <a:srgbClr val="0E945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15"/>
            <p:cNvSpPr/>
            <p:nvPr/>
          </p:nvSpPr>
          <p:spPr>
            <a:xfrm rot="4858083">
              <a:off x="3035726" y="2458874"/>
              <a:ext cx="256075" cy="256075"/>
            </a:xfrm>
            <a:prstGeom prst="rtTriangle">
              <a:avLst/>
            </a:prstGeom>
            <a:solidFill>
              <a:srgbClr val="08563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15"/>
            <p:cNvSpPr/>
            <p:nvPr/>
          </p:nvSpPr>
          <p:spPr>
            <a:xfrm rot="-8100000">
              <a:off x="3550043" y="898286"/>
              <a:ext cx="256255" cy="256255"/>
            </a:xfrm>
            <a:prstGeom prst="rtTriangle">
              <a:avLst/>
            </a:prstGeom>
            <a:solidFill>
              <a:srgbClr val="65F0A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16"/>
          <p:cNvSpPr txBox="1"/>
          <p:nvPr/>
        </p:nvSpPr>
        <p:spPr>
          <a:xfrm>
            <a:off x="0" y="0"/>
            <a:ext cx="3000000" cy="461700"/>
          </a:xfrm>
          <a:prstGeom prst="rect">
            <a:avLst/>
          </a:prstGeom>
          <a:noFill/>
          <a:ln>
            <a:noFill/>
          </a:ln>
        </p:spPr>
        <p:txBody>
          <a:bodyPr anchorCtr="0" anchor="t" bIns="91425" lIns="91425" spcFirstLastPara="1" rIns="91425" wrap="square" tIns="91425">
            <a:spAutoFit/>
          </a:bodyPr>
          <a:lstStyle/>
          <a:p>
            <a:pPr indent="0" lvl="0" marL="457200" rtl="0" algn="l">
              <a:lnSpc>
                <a:spcPct val="115000"/>
              </a:lnSpc>
              <a:spcBef>
                <a:spcPts val="0"/>
              </a:spcBef>
              <a:spcAft>
                <a:spcPts val="1200"/>
              </a:spcAft>
              <a:buNone/>
            </a:pPr>
            <a:r>
              <a:t/>
            </a:r>
            <a:endParaRPr sz="1800">
              <a:solidFill>
                <a:schemeClr val="dk2"/>
              </a:solidFill>
            </a:endParaRPr>
          </a:p>
        </p:txBody>
      </p:sp>
      <p:sp>
        <p:nvSpPr>
          <p:cNvPr id="103" name="Google Shape;103;p16"/>
          <p:cNvSpPr txBox="1"/>
          <p:nvPr>
            <p:ph type="title"/>
          </p:nvPr>
        </p:nvSpPr>
        <p:spPr>
          <a:xfrm>
            <a:off x="160250" y="189075"/>
            <a:ext cx="3038400" cy="635100"/>
          </a:xfrm>
          <a:prstGeom prst="rect">
            <a:avLst/>
          </a:prstGeom>
        </p:spPr>
        <p:txBody>
          <a:bodyPr anchorCtr="0" anchor="b" bIns="91425" lIns="91425" spcFirstLastPara="1" rIns="91425" wrap="square" tIns="91425">
            <a:normAutofit fontScale="90000"/>
          </a:bodyPr>
          <a:lstStyle/>
          <a:p>
            <a:pPr indent="0" lvl="0" marL="0" rtl="0" algn="l">
              <a:lnSpc>
                <a:spcPct val="115000"/>
              </a:lnSpc>
              <a:spcBef>
                <a:spcPts val="0"/>
              </a:spcBef>
              <a:spcAft>
                <a:spcPts val="1200"/>
              </a:spcAft>
              <a:buNone/>
            </a:pPr>
            <a:r>
              <a:rPr b="1" lang="en" sz="1800">
                <a:solidFill>
                  <a:schemeClr val="dk2"/>
                </a:solidFill>
              </a:rPr>
              <a:t>Taiping Heavenly Kingdom Rebellion </a:t>
            </a:r>
            <a:r>
              <a:rPr lang="en" sz="1800">
                <a:solidFill>
                  <a:schemeClr val="dk2"/>
                </a:solidFill>
              </a:rPr>
              <a:t>(1851-1864)</a:t>
            </a:r>
            <a:endParaRPr sz="1800">
              <a:solidFill>
                <a:schemeClr val="dk2"/>
              </a:solidFill>
            </a:endParaRPr>
          </a:p>
        </p:txBody>
      </p:sp>
      <p:pic>
        <p:nvPicPr>
          <p:cNvPr id="104" name="Google Shape;104;p16"/>
          <p:cNvPicPr preferRelativeResize="0"/>
          <p:nvPr/>
        </p:nvPicPr>
        <p:blipFill rotWithShape="1">
          <a:blip r:embed="rId3">
            <a:alphaModFix/>
          </a:blip>
          <a:srcRect b="0" l="0" r="19517" t="0"/>
          <a:stretch/>
        </p:blipFill>
        <p:spPr>
          <a:xfrm>
            <a:off x="3534275" y="808050"/>
            <a:ext cx="5609725" cy="3527401"/>
          </a:xfrm>
          <a:prstGeom prst="rect">
            <a:avLst/>
          </a:prstGeom>
          <a:noFill/>
          <a:ln>
            <a:noFill/>
          </a:ln>
        </p:spPr>
      </p:pic>
      <p:sp>
        <p:nvSpPr>
          <p:cNvPr id="105" name="Google Shape;105;p16"/>
          <p:cNvSpPr txBox="1"/>
          <p:nvPr/>
        </p:nvSpPr>
        <p:spPr>
          <a:xfrm>
            <a:off x="160250" y="824175"/>
            <a:ext cx="3151800" cy="4319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50">
                <a:solidFill>
                  <a:srgbClr val="2D3B45"/>
                </a:solidFill>
                <a:highlight>
                  <a:srgbClr val="FFFFFF"/>
                </a:highlight>
              </a:rPr>
              <a:t>Yang, CK - Religion in Chinese Society: "Chapter IX, Religion and Political Rebellion" [Tangyi]</a:t>
            </a:r>
            <a:endParaRPr sz="1050">
              <a:solidFill>
                <a:srgbClr val="2D3B45"/>
              </a:solidFill>
              <a:highlight>
                <a:srgbClr val="FFFFFF"/>
              </a:highlight>
            </a:endParaRPr>
          </a:p>
          <a:p>
            <a:pPr indent="0" lvl="0" marL="0" rtl="0" algn="l">
              <a:spcBef>
                <a:spcPts val="0"/>
              </a:spcBef>
              <a:spcAft>
                <a:spcPts val="0"/>
              </a:spcAft>
              <a:buNone/>
            </a:pPr>
            <a:r>
              <a:t/>
            </a:r>
            <a:endParaRPr sz="1050">
              <a:solidFill>
                <a:srgbClr val="2D3B45"/>
              </a:solidFill>
              <a:highlight>
                <a:srgbClr val="FFFFFF"/>
              </a:highlight>
            </a:endParaRPr>
          </a:p>
          <a:p>
            <a:pPr indent="0" lvl="0" marL="0" rtl="0" algn="l">
              <a:spcBef>
                <a:spcPts val="0"/>
              </a:spcBef>
              <a:spcAft>
                <a:spcPts val="0"/>
              </a:spcAft>
              <a:buNone/>
            </a:pPr>
            <a:r>
              <a:t/>
            </a:r>
            <a:endParaRPr sz="1050">
              <a:solidFill>
                <a:srgbClr val="2D3B45"/>
              </a:solidFill>
              <a:highlight>
                <a:srgbClr val="FFFFFF"/>
              </a:highlight>
            </a:endParaRPr>
          </a:p>
          <a:p>
            <a:pPr indent="0" lvl="0" marL="0" rtl="0" algn="l">
              <a:spcBef>
                <a:spcPts val="0"/>
              </a:spcBef>
              <a:spcAft>
                <a:spcPts val="0"/>
              </a:spcAft>
              <a:buNone/>
            </a:pPr>
            <a:r>
              <a:t/>
            </a:r>
            <a:endParaRPr sz="1050">
              <a:solidFill>
                <a:srgbClr val="2D3B45"/>
              </a:solidFill>
              <a:highlight>
                <a:srgbClr val="FFFFFF"/>
              </a:highlight>
            </a:endParaRPr>
          </a:p>
          <a:p>
            <a:pPr indent="0" lvl="0" marL="0" rtl="0" algn="l">
              <a:spcBef>
                <a:spcPts val="0"/>
              </a:spcBef>
              <a:spcAft>
                <a:spcPts val="0"/>
              </a:spcAft>
              <a:buNone/>
            </a:pPr>
            <a:r>
              <a:t/>
            </a:r>
            <a:endParaRPr sz="1050">
              <a:solidFill>
                <a:srgbClr val="2D3B45"/>
              </a:solidFill>
              <a:highlight>
                <a:srgbClr val="FFFFFF"/>
              </a:highlight>
            </a:endParaRPr>
          </a:p>
          <a:p>
            <a:pPr indent="0" lvl="0" marL="0" rtl="0" algn="l">
              <a:spcBef>
                <a:spcPts val="0"/>
              </a:spcBef>
              <a:spcAft>
                <a:spcPts val="0"/>
              </a:spcAft>
              <a:buNone/>
            </a:pPr>
            <a:r>
              <a:rPr lang="en" sz="1050">
                <a:solidFill>
                  <a:srgbClr val="2D3B45"/>
                </a:solidFill>
                <a:highlight>
                  <a:srgbClr val="FFFFFF"/>
                </a:highlight>
              </a:rPr>
              <a:t>Meyer, What Remains Coming to Terms with Civil War in 19th Century China: Introduction to the Taiping Rebellion [Guanqi]</a:t>
            </a:r>
            <a:endParaRPr sz="1050">
              <a:solidFill>
                <a:srgbClr val="2D3B45"/>
              </a:solidFill>
              <a:highlight>
                <a:srgbClr val="FFFFFF"/>
              </a:highlight>
            </a:endParaRPr>
          </a:p>
          <a:p>
            <a:pPr indent="0" lvl="0" marL="0" rtl="0" algn="l">
              <a:spcBef>
                <a:spcPts val="0"/>
              </a:spcBef>
              <a:spcAft>
                <a:spcPts val="0"/>
              </a:spcAft>
              <a:buNone/>
            </a:pPr>
            <a:r>
              <a:t/>
            </a:r>
            <a:endParaRPr sz="1050">
              <a:solidFill>
                <a:srgbClr val="2D3B45"/>
              </a:solidFill>
              <a:highlight>
                <a:srgbClr val="FFFFFF"/>
              </a:highlight>
            </a:endParaRPr>
          </a:p>
          <a:p>
            <a:pPr indent="0" lvl="0" marL="0" rtl="0" algn="l">
              <a:spcBef>
                <a:spcPts val="0"/>
              </a:spcBef>
              <a:spcAft>
                <a:spcPts val="0"/>
              </a:spcAft>
              <a:buNone/>
            </a:pPr>
            <a:r>
              <a:t/>
            </a:r>
            <a:endParaRPr sz="1050">
              <a:solidFill>
                <a:srgbClr val="2D3B45"/>
              </a:solidFill>
              <a:highlight>
                <a:srgbClr val="FFFFFF"/>
              </a:highlight>
            </a:endParaRPr>
          </a:p>
          <a:p>
            <a:pPr indent="0" lvl="0" marL="0" rtl="0" algn="l">
              <a:spcBef>
                <a:spcPts val="0"/>
              </a:spcBef>
              <a:spcAft>
                <a:spcPts val="0"/>
              </a:spcAft>
              <a:buClr>
                <a:schemeClr val="dk1"/>
              </a:buClr>
              <a:buSzPts val="1100"/>
              <a:buFont typeface="Arial"/>
              <a:buNone/>
            </a:pPr>
            <a:r>
              <a:t/>
            </a:r>
            <a:endParaRPr sz="1050">
              <a:solidFill>
                <a:srgbClr val="2D3B45"/>
              </a:solidFill>
              <a:highlight>
                <a:srgbClr val="FFFFFF"/>
              </a:highlight>
            </a:endParaRPr>
          </a:p>
          <a:p>
            <a:pPr indent="0" lvl="0" marL="0" rtl="0" algn="l">
              <a:spcBef>
                <a:spcPts val="0"/>
              </a:spcBef>
              <a:spcAft>
                <a:spcPts val="0"/>
              </a:spcAft>
              <a:buClr>
                <a:schemeClr val="dk1"/>
              </a:buClr>
              <a:buSzPts val="1100"/>
              <a:buFont typeface="Arial"/>
              <a:buNone/>
            </a:pPr>
            <a:r>
              <a:rPr lang="en" sz="1050">
                <a:solidFill>
                  <a:srgbClr val="2D3B45"/>
                </a:solidFill>
                <a:highlight>
                  <a:srgbClr val="FFFFFF"/>
                </a:highlight>
              </a:rPr>
              <a:t>Hong Kong Coastal Defence Museum-Taiping Heavenly Kingdom Educational Pamphlet [Ruichen]</a:t>
            </a:r>
            <a:endParaRPr sz="1050">
              <a:solidFill>
                <a:srgbClr val="2D3B45"/>
              </a:solidFill>
              <a:highlight>
                <a:srgbClr val="FFFFFF"/>
              </a:highlight>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17"/>
          <p:cNvSpPr txBox="1"/>
          <p:nvPr/>
        </p:nvSpPr>
        <p:spPr>
          <a:xfrm>
            <a:off x="0" y="0"/>
            <a:ext cx="3000000" cy="461700"/>
          </a:xfrm>
          <a:prstGeom prst="rect">
            <a:avLst/>
          </a:prstGeom>
          <a:noFill/>
          <a:ln>
            <a:noFill/>
          </a:ln>
        </p:spPr>
        <p:txBody>
          <a:bodyPr anchorCtr="0" anchor="t" bIns="91425" lIns="91425" spcFirstLastPara="1" rIns="91425" wrap="square" tIns="91425">
            <a:spAutoFit/>
          </a:bodyPr>
          <a:lstStyle/>
          <a:p>
            <a:pPr indent="0" lvl="0" marL="457200" rtl="0" algn="l">
              <a:lnSpc>
                <a:spcPct val="115000"/>
              </a:lnSpc>
              <a:spcBef>
                <a:spcPts val="0"/>
              </a:spcBef>
              <a:spcAft>
                <a:spcPts val="1200"/>
              </a:spcAft>
              <a:buNone/>
            </a:pPr>
            <a:r>
              <a:t/>
            </a:r>
            <a:endParaRPr sz="1800">
              <a:solidFill>
                <a:schemeClr val="dk2"/>
              </a:solidFill>
            </a:endParaRPr>
          </a:p>
        </p:txBody>
      </p:sp>
      <p:sp>
        <p:nvSpPr>
          <p:cNvPr id="111" name="Google Shape;111;p17"/>
          <p:cNvSpPr txBox="1"/>
          <p:nvPr>
            <p:ph type="title"/>
          </p:nvPr>
        </p:nvSpPr>
        <p:spPr>
          <a:xfrm>
            <a:off x="311700" y="555600"/>
            <a:ext cx="4260300" cy="755700"/>
          </a:xfrm>
          <a:prstGeom prst="rect">
            <a:avLst/>
          </a:prstGeom>
        </p:spPr>
        <p:txBody>
          <a:bodyPr anchorCtr="0" anchor="b" bIns="91425" lIns="91425" spcFirstLastPara="1" rIns="91425" wrap="square" tIns="91425">
            <a:normAutofit fontScale="90000"/>
          </a:bodyPr>
          <a:lstStyle/>
          <a:p>
            <a:pPr indent="0" lvl="0" marL="0" rtl="0" algn="l">
              <a:lnSpc>
                <a:spcPct val="115000"/>
              </a:lnSpc>
              <a:spcBef>
                <a:spcPts val="0"/>
              </a:spcBef>
              <a:spcAft>
                <a:spcPts val="1200"/>
              </a:spcAft>
              <a:buNone/>
            </a:pPr>
            <a:r>
              <a:rPr b="1" lang="en" sz="1800">
                <a:solidFill>
                  <a:schemeClr val="dk2"/>
                </a:solidFill>
              </a:rPr>
              <a:t>Taiping Heavenly Kingdom Rebellion </a:t>
            </a:r>
            <a:r>
              <a:rPr lang="en" sz="1800">
                <a:solidFill>
                  <a:schemeClr val="dk2"/>
                </a:solidFill>
              </a:rPr>
              <a:t>(1851-1864)</a:t>
            </a:r>
            <a:endParaRPr sz="1800">
              <a:solidFill>
                <a:schemeClr val="dk2"/>
              </a:solidFill>
            </a:endParaRPr>
          </a:p>
        </p:txBody>
      </p:sp>
      <p:sp>
        <p:nvSpPr>
          <p:cNvPr id="112" name="Google Shape;112;p17"/>
          <p:cNvSpPr txBox="1"/>
          <p:nvPr>
            <p:ph idx="1" type="body"/>
          </p:nvPr>
        </p:nvSpPr>
        <p:spPr>
          <a:xfrm>
            <a:off x="311700" y="1389600"/>
            <a:ext cx="4260300" cy="3179400"/>
          </a:xfrm>
          <a:prstGeom prst="rect">
            <a:avLst/>
          </a:prstGeom>
        </p:spPr>
        <p:txBody>
          <a:bodyPr anchorCtr="0" anchor="t" bIns="91425" lIns="91425" spcFirstLastPara="1" rIns="91425" wrap="square" tIns="91425">
            <a:normAutofit fontScale="77500"/>
          </a:bodyPr>
          <a:lstStyle/>
          <a:p>
            <a:pPr indent="0" lvl="0" marL="0" rtl="0" algn="l">
              <a:spcBef>
                <a:spcPts val="0"/>
              </a:spcBef>
              <a:spcAft>
                <a:spcPts val="0"/>
              </a:spcAft>
              <a:buNone/>
            </a:pPr>
            <a:r>
              <a:rPr lang="en"/>
              <a:t>Pretext: Opium Wars, Unequal Treaties w/ Colonial Powers</a:t>
            </a:r>
            <a:endParaRPr/>
          </a:p>
          <a:p>
            <a:pPr indent="0" lvl="0" marL="0" rtl="0" algn="l">
              <a:spcBef>
                <a:spcPts val="1200"/>
              </a:spcBef>
              <a:spcAft>
                <a:spcPts val="0"/>
              </a:spcAft>
              <a:buNone/>
            </a:pPr>
            <a:r>
              <a:rPr lang="en"/>
              <a:t>One of the bloodiest civil wars in human history</a:t>
            </a:r>
            <a:endParaRPr/>
          </a:p>
          <a:p>
            <a:pPr indent="-287655" lvl="0" marL="457200" rtl="0" algn="l">
              <a:spcBef>
                <a:spcPts val="1200"/>
              </a:spcBef>
              <a:spcAft>
                <a:spcPts val="0"/>
              </a:spcAft>
              <a:buSzPct val="100000"/>
              <a:buChar char="●"/>
            </a:pPr>
            <a:r>
              <a:rPr lang="en"/>
              <a:t>Est. 20–30 million deaths</a:t>
            </a:r>
            <a:endParaRPr/>
          </a:p>
          <a:p>
            <a:pPr indent="-287655" lvl="0" marL="457200" rtl="0" algn="l">
              <a:spcBef>
                <a:spcPts val="0"/>
              </a:spcBef>
              <a:spcAft>
                <a:spcPts val="0"/>
              </a:spcAft>
              <a:buSzPct val="100000"/>
              <a:buChar char="●"/>
            </a:pPr>
            <a:r>
              <a:rPr lang="en"/>
              <a:t>Comparable to total </a:t>
            </a:r>
            <a:r>
              <a:rPr lang="en"/>
              <a:t>casualties of </a:t>
            </a:r>
            <a:r>
              <a:rPr lang="en"/>
              <a:t>World War I</a:t>
            </a:r>
            <a:endParaRPr/>
          </a:p>
          <a:p>
            <a:pPr indent="0" lvl="0" marL="0" rtl="0" algn="l">
              <a:spcBef>
                <a:spcPts val="1200"/>
              </a:spcBef>
              <a:spcAft>
                <a:spcPts val="0"/>
              </a:spcAft>
              <a:buNone/>
            </a:pPr>
            <a:r>
              <a:rPr lang="en"/>
              <a:t>Beginning: God Worshipping Society</a:t>
            </a:r>
            <a:endParaRPr/>
          </a:p>
          <a:p>
            <a:pPr indent="-287655" lvl="0" marL="457200" rtl="0" algn="l">
              <a:spcBef>
                <a:spcPts val="1200"/>
              </a:spcBef>
              <a:spcAft>
                <a:spcPts val="0"/>
              </a:spcAft>
              <a:buSzPct val="100000"/>
              <a:buChar char="●"/>
            </a:pPr>
            <a:r>
              <a:rPr lang="en"/>
              <a:t>Popular millennialist cult in Southern China</a:t>
            </a:r>
            <a:endParaRPr/>
          </a:p>
          <a:p>
            <a:pPr indent="-287655" lvl="0" marL="457200" rtl="0" algn="l">
              <a:spcBef>
                <a:spcPts val="0"/>
              </a:spcBef>
              <a:spcAft>
                <a:spcPts val="0"/>
              </a:spcAft>
              <a:buSzPct val="100000"/>
              <a:buChar char="●"/>
            </a:pPr>
            <a:r>
              <a:rPr lang="en"/>
              <a:t>Mix of Christianity and Chinese folk religions</a:t>
            </a:r>
            <a:endParaRPr/>
          </a:p>
          <a:p>
            <a:pPr indent="-287655" lvl="0" marL="457200" rtl="0" algn="l">
              <a:spcBef>
                <a:spcPts val="0"/>
              </a:spcBef>
              <a:spcAft>
                <a:spcPts val="0"/>
              </a:spcAft>
              <a:buSzPct val="100000"/>
              <a:buChar char="●"/>
            </a:pPr>
            <a:r>
              <a:rPr lang="en"/>
              <a:t>Led by a charismatic populist figure, Hong Xiuquan</a:t>
            </a:r>
            <a:endParaRPr/>
          </a:p>
          <a:p>
            <a:pPr indent="0" lvl="0" marL="0" rtl="0" algn="l">
              <a:spcBef>
                <a:spcPts val="1200"/>
              </a:spcBef>
              <a:spcAft>
                <a:spcPts val="0"/>
              </a:spcAft>
              <a:buNone/>
            </a:pPr>
            <a:r>
              <a:rPr lang="en"/>
              <a:t>Peak: Controlled most of the Southeastern China, 30+ million population</a:t>
            </a:r>
            <a:endParaRPr/>
          </a:p>
          <a:p>
            <a:pPr indent="-287655" lvl="0" marL="457200" rtl="0" algn="l">
              <a:spcBef>
                <a:spcPts val="1200"/>
              </a:spcBef>
              <a:spcAft>
                <a:spcPts val="0"/>
              </a:spcAft>
              <a:buSzPct val="100000"/>
              <a:buChar char="●"/>
            </a:pPr>
            <a:r>
              <a:rPr lang="en"/>
              <a:t>Promoted egalitarian ideals under a theocratic absolute monarchy</a:t>
            </a:r>
            <a:endParaRPr/>
          </a:p>
          <a:p>
            <a:pPr indent="-287655" lvl="0" marL="457200" rtl="0" algn="l">
              <a:spcBef>
                <a:spcPts val="0"/>
              </a:spcBef>
              <a:spcAft>
                <a:spcPts val="0"/>
              </a:spcAft>
              <a:buSzPct val="109090"/>
              <a:buChar char="●"/>
            </a:pPr>
            <a:r>
              <a:rPr lang="en"/>
              <a:t>Proposed reforms: wealth redistribution, railways &amp; steamships, electrical telegraphs, modern banking, intellectual property protection</a:t>
            </a:r>
            <a:endParaRPr sz="1100"/>
          </a:p>
        </p:txBody>
      </p:sp>
      <p:pic>
        <p:nvPicPr>
          <p:cNvPr id="113" name="Google Shape;113;p17"/>
          <p:cNvPicPr preferRelativeResize="0"/>
          <p:nvPr/>
        </p:nvPicPr>
        <p:blipFill>
          <a:blip r:embed="rId3">
            <a:alphaModFix/>
          </a:blip>
          <a:stretch>
            <a:fillRect/>
          </a:stretch>
        </p:blipFill>
        <p:spPr>
          <a:xfrm>
            <a:off x="4672575" y="990200"/>
            <a:ext cx="4267200" cy="3163099"/>
          </a:xfrm>
          <a:prstGeom prst="rect">
            <a:avLst/>
          </a:prstGeom>
          <a:noFill/>
          <a:ln>
            <a:noFill/>
          </a:ln>
        </p:spPr>
      </p:pic>
      <p:sp>
        <p:nvSpPr>
          <p:cNvPr id="114" name="Google Shape;114;p17"/>
          <p:cNvSpPr txBox="1"/>
          <p:nvPr/>
        </p:nvSpPr>
        <p:spPr>
          <a:xfrm>
            <a:off x="4749650" y="4213275"/>
            <a:ext cx="4190100" cy="194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rgbClr val="999999"/>
                </a:solidFill>
              </a:rPr>
              <a:t>Photo of the Qing “Ever </a:t>
            </a:r>
            <a:r>
              <a:rPr lang="en" sz="800">
                <a:solidFill>
                  <a:srgbClr val="999999"/>
                </a:solidFill>
              </a:rPr>
              <a:t>Victorious</a:t>
            </a:r>
            <a:r>
              <a:rPr lang="en" sz="800">
                <a:solidFill>
                  <a:srgbClr val="999999"/>
                </a:solidFill>
              </a:rPr>
              <a:t> Army” during the Taiping Rebellion [</a:t>
            </a:r>
            <a:r>
              <a:rPr lang="en" sz="800" u="sng">
                <a:solidFill>
                  <a:schemeClr val="hlink"/>
                </a:solidFill>
                <a:hlinkClick r:id="rId4"/>
              </a:rPr>
              <a:t>Source</a:t>
            </a:r>
            <a:r>
              <a:rPr lang="en" sz="800">
                <a:solidFill>
                  <a:srgbClr val="999999"/>
                </a:solidFill>
              </a:rPr>
              <a:t>]</a:t>
            </a:r>
            <a:endParaRPr sz="800">
              <a:solidFill>
                <a:srgbClr val="999999"/>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18"/>
          <p:cNvSpPr txBox="1"/>
          <p:nvPr>
            <p:ph type="title"/>
          </p:nvPr>
        </p:nvSpPr>
        <p:spPr>
          <a:xfrm>
            <a:off x="311700" y="367325"/>
            <a:ext cx="8520600" cy="5727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2400"/>
              </a:spcBef>
              <a:spcAft>
                <a:spcPts val="600"/>
              </a:spcAft>
              <a:buNone/>
            </a:pPr>
            <a:r>
              <a:rPr lang="en"/>
              <a:t>百年國恥 </a:t>
            </a:r>
            <a:r>
              <a:rPr b="1" lang="en" sz="2300"/>
              <a:t>“Century of Humiliation” </a:t>
            </a:r>
            <a:endParaRPr/>
          </a:p>
        </p:txBody>
      </p:sp>
      <p:sp>
        <p:nvSpPr>
          <p:cNvPr id="120" name="Google Shape;120;p18"/>
          <p:cNvSpPr txBox="1"/>
          <p:nvPr>
            <p:ph idx="1" type="body"/>
          </p:nvPr>
        </p:nvSpPr>
        <p:spPr>
          <a:xfrm>
            <a:off x="311700" y="1152475"/>
            <a:ext cx="36222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Trade imbalance </a:t>
            </a:r>
            <a:r>
              <a:rPr lang="en"/>
              <a:t>b/w China and colonial powers</a:t>
            </a:r>
            <a:endParaRPr/>
          </a:p>
          <a:p>
            <a:pPr indent="0" lvl="0" marL="0" rtl="0" algn="l">
              <a:spcBef>
                <a:spcPts val="1200"/>
              </a:spcBef>
              <a:spcAft>
                <a:spcPts val="0"/>
              </a:spcAft>
              <a:buNone/>
            </a:pPr>
            <a:r>
              <a:rPr lang="en"/>
              <a:t>First Opium War (1839–1842) </a:t>
            </a:r>
            <a:endParaRPr/>
          </a:p>
          <a:p>
            <a:pPr indent="-317500" lvl="0" marL="457200" rtl="0" algn="l">
              <a:spcBef>
                <a:spcPts val="1200"/>
              </a:spcBef>
              <a:spcAft>
                <a:spcPts val="0"/>
              </a:spcAft>
              <a:buSzPts val="1400"/>
              <a:buChar char="●"/>
            </a:pPr>
            <a:r>
              <a:rPr lang="en"/>
              <a:t>Treaty of Nanking: Cession of Hong Kong</a:t>
            </a:r>
            <a:endParaRPr/>
          </a:p>
          <a:p>
            <a:pPr indent="0" lvl="0" marL="0" rtl="0" algn="l">
              <a:spcBef>
                <a:spcPts val="1200"/>
              </a:spcBef>
              <a:spcAft>
                <a:spcPts val="0"/>
              </a:spcAft>
              <a:buNone/>
            </a:pPr>
            <a:r>
              <a:rPr lang="en"/>
              <a:t>Second Opium War (1856–1860) </a:t>
            </a:r>
            <a:endParaRPr/>
          </a:p>
          <a:p>
            <a:pPr indent="-317500" lvl="0" marL="457200" rtl="0" algn="l">
              <a:spcBef>
                <a:spcPts val="1200"/>
              </a:spcBef>
              <a:spcAft>
                <a:spcPts val="0"/>
              </a:spcAft>
              <a:buSzPts val="1400"/>
              <a:buChar char="●"/>
            </a:pPr>
            <a:r>
              <a:rPr lang="en"/>
              <a:t>Treaty of Tientsin: forced opium legalization</a:t>
            </a:r>
            <a:endParaRPr/>
          </a:p>
          <a:p>
            <a:pPr indent="-317500" lvl="0" marL="457200" rtl="0" algn="l">
              <a:spcBef>
                <a:spcPts val="0"/>
              </a:spcBef>
              <a:spcAft>
                <a:spcPts val="0"/>
              </a:spcAft>
              <a:buSzPts val="1400"/>
              <a:buChar char="●"/>
            </a:pPr>
            <a:r>
              <a:rPr lang="en"/>
              <a:t>Convention of Peking: Cession of Kowloon &amp; Outer Manchuria</a:t>
            </a:r>
            <a:endParaRPr/>
          </a:p>
        </p:txBody>
      </p:sp>
      <p:sp>
        <p:nvSpPr>
          <p:cNvPr id="121" name="Google Shape;121;p18"/>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22" name="Google Shape;122;p18"/>
          <p:cNvPicPr preferRelativeResize="0"/>
          <p:nvPr/>
        </p:nvPicPr>
        <p:blipFill rotWithShape="1">
          <a:blip r:embed="rId3">
            <a:alphaModFix/>
          </a:blip>
          <a:srcRect b="0" l="33114" r="0" t="0"/>
          <a:stretch/>
        </p:blipFill>
        <p:spPr>
          <a:xfrm>
            <a:off x="4229275" y="1023713"/>
            <a:ext cx="4914725" cy="3673925"/>
          </a:xfrm>
          <a:prstGeom prst="rect">
            <a:avLst/>
          </a:prstGeom>
          <a:noFill/>
          <a:ln>
            <a:noFill/>
          </a:ln>
        </p:spPr>
      </p:pic>
      <p:sp>
        <p:nvSpPr>
          <p:cNvPr id="123" name="Google Shape;123;p18"/>
          <p:cNvSpPr txBox="1"/>
          <p:nvPr/>
        </p:nvSpPr>
        <p:spPr>
          <a:xfrm>
            <a:off x="4123475" y="4647875"/>
            <a:ext cx="49146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“Admiral Ding Ruchang of Beiyang Fleet Committing Ritual Suicide (</a:t>
            </a:r>
            <a:r>
              <a:rPr lang="en" sz="800">
                <a:solidFill>
                  <a:srgbClr val="000000"/>
                </a:solidFill>
              </a:rPr>
              <a:t>北洋艦隊遂提督丁汝昌於官宅自殺啚)</a:t>
            </a:r>
            <a:r>
              <a:rPr lang="en" sz="800"/>
              <a:t>” by </a:t>
            </a:r>
            <a:r>
              <a:rPr lang="en" sz="800">
                <a:solidFill>
                  <a:srgbClr val="000000"/>
                </a:solidFill>
              </a:rPr>
              <a:t>Mizuno T</a:t>
            </a:r>
            <a:r>
              <a:rPr lang="en" sz="800"/>
              <a:t>oshikata, 1895</a:t>
            </a:r>
            <a:endParaRPr sz="8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19"/>
          <p:cNvSpPr txBox="1"/>
          <p:nvPr>
            <p:ph type="title"/>
          </p:nvPr>
        </p:nvSpPr>
        <p:spPr>
          <a:xfrm>
            <a:off x="311700" y="368725"/>
            <a:ext cx="5479200" cy="4098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2400"/>
              </a:spcBef>
              <a:spcAft>
                <a:spcPts val="600"/>
              </a:spcAft>
              <a:buNone/>
            </a:pPr>
            <a:r>
              <a:rPr lang="en"/>
              <a:t>百年國恥 </a:t>
            </a:r>
            <a:r>
              <a:rPr b="1" lang="en" sz="2300"/>
              <a:t>“Century of Humiliation” post Taiping Rebellion  </a:t>
            </a:r>
            <a:endParaRPr/>
          </a:p>
        </p:txBody>
      </p:sp>
      <p:sp>
        <p:nvSpPr>
          <p:cNvPr id="129" name="Google Shape;129;p19"/>
          <p:cNvSpPr txBox="1"/>
          <p:nvPr>
            <p:ph idx="1" type="body"/>
          </p:nvPr>
        </p:nvSpPr>
        <p:spPr>
          <a:xfrm>
            <a:off x="311700" y="1358375"/>
            <a:ext cx="4741200" cy="3210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First Sino-Japanese War (1894 – 895)</a:t>
            </a:r>
            <a:endParaRPr/>
          </a:p>
          <a:p>
            <a:pPr indent="0" lvl="0" marL="0" rtl="0" algn="l">
              <a:spcBef>
                <a:spcPts val="1200"/>
              </a:spcBef>
              <a:spcAft>
                <a:spcPts val="0"/>
              </a:spcAft>
              <a:buNone/>
            </a:pPr>
            <a:r>
              <a:rPr lang="en"/>
              <a:t>Russian occupation of Liaodong (1898)</a:t>
            </a:r>
            <a:endParaRPr/>
          </a:p>
          <a:p>
            <a:pPr indent="0" lvl="0" marL="0" rtl="0" algn="l">
              <a:spcBef>
                <a:spcPts val="1200"/>
              </a:spcBef>
              <a:spcAft>
                <a:spcPts val="0"/>
              </a:spcAft>
              <a:buNone/>
            </a:pPr>
            <a:r>
              <a:rPr lang="en"/>
              <a:t>Boxer uprising (1899–1901)</a:t>
            </a:r>
            <a:endParaRPr/>
          </a:p>
          <a:p>
            <a:pPr indent="0" lvl="0" marL="0" rtl="0" algn="l">
              <a:spcBef>
                <a:spcPts val="1200"/>
              </a:spcBef>
              <a:spcAft>
                <a:spcPts val="0"/>
              </a:spcAft>
              <a:buNone/>
            </a:pPr>
            <a:r>
              <a:rPr lang="en"/>
              <a:t>Russian invasion of Manchuria (1900)</a:t>
            </a:r>
            <a:endParaRPr/>
          </a:p>
          <a:p>
            <a:pPr indent="0" lvl="0" marL="0" rtl="0" algn="l">
              <a:spcBef>
                <a:spcPts val="1200"/>
              </a:spcBef>
              <a:spcAft>
                <a:spcPts val="0"/>
              </a:spcAft>
              <a:buNone/>
            </a:pPr>
            <a:r>
              <a:rPr lang="en"/>
              <a:t>British invasion of Tibet (1903–1904)</a:t>
            </a:r>
            <a:endParaRPr/>
          </a:p>
          <a:p>
            <a:pPr indent="0" lvl="0" marL="0" rtl="0" algn="l">
              <a:spcBef>
                <a:spcPts val="1200"/>
              </a:spcBef>
              <a:spcAft>
                <a:spcPts val="0"/>
              </a:spcAft>
              <a:buNone/>
            </a:pPr>
            <a:r>
              <a:rPr lang="en"/>
              <a:t>Japanese invasion of Manchuria (1931–1932)</a:t>
            </a:r>
            <a:endParaRPr/>
          </a:p>
          <a:p>
            <a:pPr indent="0" lvl="0" marL="0" rtl="0" algn="l">
              <a:spcBef>
                <a:spcPts val="1200"/>
              </a:spcBef>
              <a:spcAft>
                <a:spcPts val="0"/>
              </a:spcAft>
              <a:buNone/>
            </a:pPr>
            <a:r>
              <a:rPr lang="en"/>
              <a:t>Soviet invasion of Xinjiang (1934)</a:t>
            </a:r>
            <a:endParaRPr/>
          </a:p>
          <a:p>
            <a:pPr indent="0" lvl="0" marL="0" rtl="0" algn="l">
              <a:spcBef>
                <a:spcPts val="1200"/>
              </a:spcBef>
              <a:spcAft>
                <a:spcPts val="1200"/>
              </a:spcAft>
              <a:buNone/>
            </a:pPr>
            <a:r>
              <a:rPr lang="en"/>
              <a:t>Second Sino-Japanese War (1937–1945)</a:t>
            </a:r>
            <a:endParaRPr/>
          </a:p>
        </p:txBody>
      </p:sp>
      <p:grpSp>
        <p:nvGrpSpPr>
          <p:cNvPr id="130" name="Google Shape;130;p19"/>
          <p:cNvGrpSpPr/>
          <p:nvPr/>
        </p:nvGrpSpPr>
        <p:grpSpPr>
          <a:xfrm>
            <a:off x="6062945" y="-33928"/>
            <a:ext cx="3105190" cy="5139374"/>
            <a:chOff x="4573191" y="1079849"/>
            <a:chExt cx="4050600" cy="6869902"/>
          </a:xfrm>
        </p:grpSpPr>
        <p:pic>
          <p:nvPicPr>
            <p:cNvPr id="131" name="Google Shape;131;p19"/>
            <p:cNvPicPr preferRelativeResize="0"/>
            <p:nvPr/>
          </p:nvPicPr>
          <p:blipFill rotWithShape="1">
            <a:blip r:embed="rId3">
              <a:alphaModFix/>
            </a:blip>
            <a:srcRect b="0" l="16515" r="16509" t="0"/>
            <a:stretch/>
          </p:blipFill>
          <p:spPr>
            <a:xfrm>
              <a:off x="4609337" y="4540920"/>
              <a:ext cx="3978303" cy="2983801"/>
            </a:xfrm>
            <a:prstGeom prst="rect">
              <a:avLst/>
            </a:prstGeom>
            <a:noFill/>
            <a:ln cap="flat" cmpd="sng" w="9525">
              <a:solidFill>
                <a:srgbClr val="D9D9D9"/>
              </a:solidFill>
              <a:prstDash val="solid"/>
              <a:round/>
              <a:headEnd len="sm" w="sm" type="none"/>
              <a:tailEnd len="sm" w="sm" type="none"/>
            </a:ln>
          </p:spPr>
        </p:pic>
        <p:pic>
          <p:nvPicPr>
            <p:cNvPr id="132" name="Google Shape;132;p19"/>
            <p:cNvPicPr preferRelativeResize="0"/>
            <p:nvPr/>
          </p:nvPicPr>
          <p:blipFill rotWithShape="1">
            <a:blip r:embed="rId4">
              <a:alphaModFix/>
            </a:blip>
            <a:srcRect b="0" l="13768" r="13768" t="0"/>
            <a:stretch/>
          </p:blipFill>
          <p:spPr>
            <a:xfrm>
              <a:off x="4609350" y="1079849"/>
              <a:ext cx="3978305" cy="2983801"/>
            </a:xfrm>
            <a:prstGeom prst="rect">
              <a:avLst/>
            </a:prstGeom>
            <a:noFill/>
            <a:ln cap="flat" cmpd="sng" w="9525">
              <a:solidFill>
                <a:srgbClr val="D9D9D9"/>
              </a:solidFill>
              <a:prstDash val="solid"/>
              <a:round/>
              <a:headEnd len="sm" w="sm" type="none"/>
              <a:tailEnd len="sm" w="sm" type="none"/>
            </a:ln>
          </p:spPr>
        </p:pic>
        <p:sp>
          <p:nvSpPr>
            <p:cNvPr id="133" name="Google Shape;133;p19"/>
            <p:cNvSpPr txBox="1"/>
            <p:nvPr/>
          </p:nvSpPr>
          <p:spPr>
            <a:xfrm>
              <a:off x="4609338" y="4063656"/>
              <a:ext cx="3978300" cy="411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800">
                  <a:solidFill>
                    <a:schemeClr val="dk1"/>
                  </a:solidFill>
                </a:rPr>
                <a:t>Battle of Pyongyang </a:t>
              </a:r>
              <a:r>
                <a:rPr lang="en" sz="800">
                  <a:solidFill>
                    <a:srgbClr val="000000"/>
                  </a:solidFill>
                </a:rPr>
                <a:t>by Sekiguchi Masajiro (1895)</a:t>
              </a:r>
              <a:endParaRPr sz="800"/>
            </a:p>
          </p:txBody>
        </p:sp>
        <p:sp>
          <p:nvSpPr>
            <p:cNvPr id="134" name="Google Shape;134;p19"/>
            <p:cNvSpPr txBox="1"/>
            <p:nvPr/>
          </p:nvSpPr>
          <p:spPr>
            <a:xfrm>
              <a:off x="4573191" y="7538152"/>
              <a:ext cx="4050600" cy="411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solidFill>
                    <a:srgbClr val="000000"/>
                  </a:solidFill>
                </a:rPr>
                <a:t>Captain Awata by Mizuno Toshikata (1895)</a:t>
              </a:r>
              <a:endParaRPr sz="800"/>
            </a:p>
          </p:txBody>
        </p:sp>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pic>
        <p:nvPicPr>
          <p:cNvPr id="139" name="Google Shape;139;p20"/>
          <p:cNvPicPr preferRelativeResize="0"/>
          <p:nvPr/>
        </p:nvPicPr>
        <p:blipFill>
          <a:blip r:embed="rId3">
            <a:alphaModFix/>
          </a:blip>
          <a:stretch>
            <a:fillRect/>
          </a:stretch>
        </p:blipFill>
        <p:spPr>
          <a:xfrm>
            <a:off x="0" y="246889"/>
            <a:ext cx="9144000" cy="4896612"/>
          </a:xfrm>
          <a:prstGeom prst="rect">
            <a:avLst/>
          </a:prstGeom>
          <a:noFill/>
          <a:ln>
            <a:noFill/>
          </a:ln>
        </p:spPr>
      </p:pic>
      <p:sp>
        <p:nvSpPr>
          <p:cNvPr id="140" name="Google Shape;140;p20"/>
          <p:cNvSpPr txBox="1"/>
          <p:nvPr>
            <p:ph type="title"/>
          </p:nvPr>
        </p:nvSpPr>
        <p:spPr>
          <a:xfrm>
            <a:off x="311700" y="602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sz="1400">
                <a:solidFill>
                  <a:schemeClr val="lt1"/>
                </a:solidFill>
                <a:highlight>
                  <a:schemeClr val="dk1"/>
                </a:highlight>
                <a:latin typeface="Open Sans"/>
                <a:ea typeface="Open Sans"/>
                <a:cs typeface="Open Sans"/>
                <a:sym typeface="Open Sans"/>
              </a:rPr>
              <a:t>“The Japanese 1st Army Destroys Fengtian Army” by Ozeki Iwakichi, Sino-Japanese War, 1895</a:t>
            </a:r>
            <a:endParaRPr sz="1400">
              <a:solidFill>
                <a:schemeClr val="lt1"/>
              </a:solidFill>
              <a:highlight>
                <a:schemeClr val="dk1"/>
              </a:highlight>
              <a:latin typeface="Open Sans"/>
              <a:ea typeface="Open Sans"/>
              <a:cs typeface="Open Sans"/>
              <a:sym typeface="Open Sans"/>
            </a:endParaRPr>
          </a:p>
          <a:p>
            <a:pPr indent="0" lvl="0" marL="0" rtl="0" algn="l">
              <a:spcBef>
                <a:spcPts val="0"/>
              </a:spcBef>
              <a:spcAft>
                <a:spcPts val="0"/>
              </a:spcAft>
              <a:buNone/>
            </a:pPr>
            <a:r>
              <a:t/>
            </a:r>
            <a:endParaRPr>
              <a:highlight>
                <a:schemeClr val="lt1"/>
              </a:highlight>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pic>
        <p:nvPicPr>
          <p:cNvPr id="145" name="Google Shape;145;p21"/>
          <p:cNvPicPr preferRelativeResize="0"/>
          <p:nvPr/>
        </p:nvPicPr>
        <p:blipFill>
          <a:blip r:embed="rId3">
            <a:alphaModFix/>
          </a:blip>
          <a:stretch>
            <a:fillRect/>
          </a:stretch>
        </p:blipFill>
        <p:spPr>
          <a:xfrm>
            <a:off x="717810" y="0"/>
            <a:ext cx="8426189" cy="5143501"/>
          </a:xfrm>
          <a:prstGeom prst="rect">
            <a:avLst/>
          </a:prstGeom>
          <a:noFill/>
          <a:ln>
            <a:noFill/>
          </a:ln>
        </p:spPr>
      </p:pic>
      <p:sp>
        <p:nvSpPr>
          <p:cNvPr id="146" name="Google Shape;146;p21"/>
          <p:cNvSpPr txBox="1"/>
          <p:nvPr>
            <p:ph idx="1" type="body"/>
          </p:nvPr>
        </p:nvSpPr>
        <p:spPr>
          <a:xfrm>
            <a:off x="292950" y="4245225"/>
            <a:ext cx="6665100" cy="605100"/>
          </a:xfrm>
          <a:prstGeom prst="rect">
            <a:avLst/>
          </a:prstGeom>
        </p:spPr>
        <p:txBody>
          <a:bodyPr anchorCtr="0" anchor="ctr" bIns="91425" lIns="91425" spcFirstLastPara="1" rIns="91425" wrap="square" tIns="91425">
            <a:noAutofit/>
          </a:bodyPr>
          <a:lstStyle/>
          <a:p>
            <a:pPr indent="0" lvl="0" marL="0" rtl="0" algn="just">
              <a:lnSpc>
                <a:spcPct val="90000"/>
              </a:lnSpc>
              <a:spcBef>
                <a:spcPts val="0"/>
              </a:spcBef>
              <a:spcAft>
                <a:spcPts val="0"/>
              </a:spcAft>
              <a:buSzPts val="440"/>
              <a:buNone/>
            </a:pPr>
            <a:r>
              <a:rPr lang="en" sz="1020">
                <a:highlight>
                  <a:srgbClr val="F3F3F3"/>
                </a:highlight>
              </a:rPr>
              <a:t>The 1881 piece titled "Immigration East and West" published in </a:t>
            </a:r>
            <a:r>
              <a:rPr i="1" lang="en" sz="1020">
                <a:highlight>
                  <a:srgbClr val="F3F3F3"/>
                </a:highlight>
              </a:rPr>
              <a:t>Wax Magazine </a:t>
            </a:r>
            <a:r>
              <a:rPr lang="en" sz="1020">
                <a:highlight>
                  <a:srgbClr val="F3F3F3"/>
                </a:highlight>
              </a:rPr>
              <a:t>portrays contrasting views of immigration in the United States. The left panel illustrates European immigrants as bringing valuable qualities such as "art," "industry," "capital," and "politics" to the country as it expands westward. In contrast, the right panel portrays Chinese immigration as a menacing serpent, with negative impacts such as the spread of "smallpox," "immorality," and a threat to "white labor," contributing to the perception of national decay moving eastward.</a:t>
            </a:r>
            <a:endParaRPr sz="1020">
              <a:highlight>
                <a:srgbClr val="F3F3F3"/>
              </a:highlight>
            </a:endParaRPr>
          </a:p>
        </p:txBody>
      </p:sp>
      <p:sp>
        <p:nvSpPr>
          <p:cNvPr id="147" name="Google Shape;147;p21"/>
          <p:cNvSpPr txBox="1"/>
          <p:nvPr/>
        </p:nvSpPr>
        <p:spPr>
          <a:xfrm>
            <a:off x="5534700" y="538725"/>
            <a:ext cx="40290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solidFill>
                  <a:srgbClr val="999999"/>
                </a:solidFill>
              </a:rPr>
              <a:t>EAS190 Lecture Slides by Keren Wang, SP 2023, all rights reserved </a:t>
            </a:r>
            <a:endParaRPr sz="800">
              <a:solidFill>
                <a:srgbClr val="999999"/>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2"/>
          <p:cNvSpPr txBox="1"/>
          <p:nvPr>
            <p:ph type="title"/>
          </p:nvPr>
        </p:nvSpPr>
        <p:spPr>
          <a:xfrm>
            <a:off x="311700" y="953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“Falun Gong in the media: What can we believe?”</a:t>
            </a:r>
            <a:endParaRPr/>
          </a:p>
        </p:txBody>
      </p:sp>
      <p:sp>
        <p:nvSpPr>
          <p:cNvPr id="153" name="Google Shape;153;p22"/>
          <p:cNvSpPr txBox="1"/>
          <p:nvPr>
            <p:ph idx="1" type="body"/>
          </p:nvPr>
        </p:nvSpPr>
        <p:spPr>
          <a:xfrm>
            <a:off x="311700" y="751575"/>
            <a:ext cx="2531700" cy="4167300"/>
          </a:xfrm>
          <a:prstGeom prst="rect">
            <a:avLst/>
          </a:prstGeom>
        </p:spPr>
        <p:txBody>
          <a:bodyPr anchorCtr="0" anchor="t" bIns="91425" lIns="91425" spcFirstLastPara="1" rIns="91425" wrap="square" tIns="91425">
            <a:normAutofit fontScale="77500" lnSpcReduction="20000"/>
          </a:bodyPr>
          <a:lstStyle/>
          <a:p>
            <a:pPr indent="0" lvl="0" marL="0" rtl="0" algn="l">
              <a:spcBef>
                <a:spcPts val="0"/>
              </a:spcBef>
              <a:spcAft>
                <a:spcPts val="0"/>
              </a:spcAft>
              <a:buNone/>
            </a:pPr>
            <a:r>
              <a:rPr lang="en"/>
              <a:t>“Propaganda war” b/w Western &amp; Chinese media</a:t>
            </a:r>
            <a:endParaRPr/>
          </a:p>
          <a:p>
            <a:pPr indent="0" lvl="0" marL="0" rtl="0" algn="l">
              <a:spcBef>
                <a:spcPts val="1200"/>
              </a:spcBef>
              <a:spcAft>
                <a:spcPts val="0"/>
              </a:spcAft>
              <a:buNone/>
            </a:pPr>
            <a:r>
              <a:rPr lang="en"/>
              <a:t>“Qigong fever (</a:t>
            </a:r>
            <a:r>
              <a:rPr lang="en"/>
              <a:t>气功热)</a:t>
            </a:r>
            <a:r>
              <a:rPr lang="en"/>
              <a:t>”: 1980s &amp; 90s</a:t>
            </a:r>
            <a:endParaRPr/>
          </a:p>
          <a:p>
            <a:pPr indent="-297497" lvl="0" marL="457200" rtl="0" algn="l">
              <a:spcBef>
                <a:spcPts val="1200"/>
              </a:spcBef>
              <a:spcAft>
                <a:spcPts val="0"/>
              </a:spcAft>
              <a:buSzPct val="100000"/>
              <a:buChar char="●"/>
            </a:pPr>
            <a:r>
              <a:rPr lang="en"/>
              <a:t>Neoliberal </a:t>
            </a:r>
            <a:r>
              <a:rPr i="1" lang="en"/>
              <a:t>anomie </a:t>
            </a:r>
            <a:endParaRPr/>
          </a:p>
          <a:p>
            <a:pPr indent="-297497" lvl="0" marL="457200" rtl="0" algn="l">
              <a:spcBef>
                <a:spcPts val="0"/>
              </a:spcBef>
              <a:spcAft>
                <a:spcPts val="0"/>
              </a:spcAft>
              <a:buSzPct val="100000"/>
              <a:buChar char="●"/>
            </a:pPr>
            <a:r>
              <a:rPr lang="en"/>
              <a:t>Outburst of new age religious movements and </a:t>
            </a:r>
            <a:r>
              <a:rPr lang="en"/>
              <a:t>pseudoscientific narratives</a:t>
            </a:r>
            <a:r>
              <a:rPr lang="en"/>
              <a:t> </a:t>
            </a:r>
            <a:endParaRPr/>
          </a:p>
          <a:p>
            <a:pPr indent="0" lvl="0" marL="0" rtl="0" algn="l">
              <a:spcBef>
                <a:spcPts val="1200"/>
              </a:spcBef>
              <a:spcAft>
                <a:spcPts val="0"/>
              </a:spcAft>
              <a:buNone/>
            </a:pPr>
            <a:r>
              <a:rPr lang="en"/>
              <a:t>Top left: Yan Xin conducting “Qigong electrification” on believers (Shenyang, 1987)</a:t>
            </a:r>
            <a:endParaRPr/>
          </a:p>
          <a:p>
            <a:pPr indent="0" lvl="0" marL="0" rtl="0" algn="l">
              <a:spcBef>
                <a:spcPts val="1200"/>
              </a:spcBef>
              <a:spcAft>
                <a:spcPts val="0"/>
              </a:spcAft>
              <a:buNone/>
            </a:pPr>
            <a:r>
              <a:rPr lang="en"/>
              <a:t>Top right: Followers of Zhang Xiangyu wearing the iconic “Information Pot” to “receive cosmo energies” during a meditation session in Beijing, 1990</a:t>
            </a:r>
            <a:endParaRPr/>
          </a:p>
          <a:p>
            <a:pPr indent="0" lvl="0" marL="0" rtl="0" algn="l">
              <a:spcBef>
                <a:spcPts val="1200"/>
              </a:spcBef>
              <a:spcAft>
                <a:spcPts val="0"/>
              </a:spcAft>
              <a:buNone/>
            </a:pPr>
            <a:r>
              <a:rPr lang="en"/>
              <a:t>Bottom left: a typical new age / </a:t>
            </a:r>
            <a:r>
              <a:rPr lang="en"/>
              <a:t>pseudoscientific</a:t>
            </a:r>
            <a:r>
              <a:rPr lang="en"/>
              <a:t> popular </a:t>
            </a:r>
            <a:r>
              <a:rPr lang="en"/>
              <a:t>magazine</a:t>
            </a:r>
            <a:r>
              <a:rPr lang="en"/>
              <a:t> from the 1980s</a:t>
            </a:r>
            <a:endParaRPr/>
          </a:p>
          <a:p>
            <a:pPr indent="0" lvl="0" marL="0" rtl="0" algn="l">
              <a:spcBef>
                <a:spcPts val="1200"/>
              </a:spcBef>
              <a:spcAft>
                <a:spcPts val="1200"/>
              </a:spcAft>
              <a:buNone/>
            </a:pPr>
            <a:r>
              <a:rPr lang="en"/>
              <a:t>Bottom right: Qigong </a:t>
            </a:r>
            <a:r>
              <a:rPr lang="en"/>
              <a:t>practitioners</a:t>
            </a:r>
            <a:r>
              <a:rPr lang="en"/>
              <a:t> at Beijing Ditan Park, 1986</a:t>
            </a:r>
            <a:endParaRPr/>
          </a:p>
        </p:txBody>
      </p:sp>
      <p:pic>
        <p:nvPicPr>
          <p:cNvPr id="154" name="Google Shape;154;p22"/>
          <p:cNvPicPr preferRelativeResize="0"/>
          <p:nvPr/>
        </p:nvPicPr>
        <p:blipFill>
          <a:blip r:embed="rId3">
            <a:alphaModFix/>
          </a:blip>
          <a:stretch>
            <a:fillRect/>
          </a:stretch>
        </p:blipFill>
        <p:spPr>
          <a:xfrm>
            <a:off x="2944142" y="568650"/>
            <a:ext cx="2961584" cy="2003100"/>
          </a:xfrm>
          <a:prstGeom prst="rect">
            <a:avLst/>
          </a:prstGeom>
          <a:noFill/>
          <a:ln>
            <a:noFill/>
          </a:ln>
        </p:spPr>
      </p:pic>
      <p:pic>
        <p:nvPicPr>
          <p:cNvPr id="155" name="Google Shape;155;p22"/>
          <p:cNvPicPr preferRelativeResize="0"/>
          <p:nvPr/>
        </p:nvPicPr>
        <p:blipFill>
          <a:blip r:embed="rId4">
            <a:alphaModFix/>
          </a:blip>
          <a:stretch>
            <a:fillRect/>
          </a:stretch>
        </p:blipFill>
        <p:spPr>
          <a:xfrm>
            <a:off x="5905733" y="568650"/>
            <a:ext cx="3238267" cy="2003100"/>
          </a:xfrm>
          <a:prstGeom prst="rect">
            <a:avLst/>
          </a:prstGeom>
          <a:noFill/>
          <a:ln>
            <a:noFill/>
          </a:ln>
        </p:spPr>
      </p:pic>
      <p:pic>
        <p:nvPicPr>
          <p:cNvPr id="156" name="Google Shape;156;p22"/>
          <p:cNvPicPr preferRelativeResize="0"/>
          <p:nvPr/>
        </p:nvPicPr>
        <p:blipFill>
          <a:blip r:embed="rId5">
            <a:alphaModFix/>
          </a:blip>
          <a:stretch>
            <a:fillRect/>
          </a:stretch>
        </p:blipFill>
        <p:spPr>
          <a:xfrm>
            <a:off x="2944150" y="2651925"/>
            <a:ext cx="1896923" cy="2266950"/>
          </a:xfrm>
          <a:prstGeom prst="rect">
            <a:avLst/>
          </a:prstGeom>
          <a:noFill/>
          <a:ln>
            <a:noFill/>
          </a:ln>
        </p:spPr>
      </p:pic>
      <p:pic>
        <p:nvPicPr>
          <p:cNvPr id="157" name="Google Shape;157;p22"/>
          <p:cNvPicPr preferRelativeResize="0"/>
          <p:nvPr/>
        </p:nvPicPr>
        <p:blipFill>
          <a:blip r:embed="rId6">
            <a:alphaModFix/>
          </a:blip>
          <a:stretch>
            <a:fillRect/>
          </a:stretch>
        </p:blipFill>
        <p:spPr>
          <a:xfrm>
            <a:off x="5399798" y="2651925"/>
            <a:ext cx="3744212" cy="22669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23"/>
          <p:cNvSpPr txBox="1"/>
          <p:nvPr>
            <p:ph idx="1" type="body"/>
          </p:nvPr>
        </p:nvSpPr>
        <p:spPr>
          <a:xfrm>
            <a:off x="166700" y="152400"/>
            <a:ext cx="2531700" cy="41673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a:t>Top left: 2012 photo of “Qigong master” with Alibaba founder Jack Ma and Hong Kong actress Vicky Zhao. By the time of his death in 2017 Wang facing multiple criminal charges for </a:t>
            </a:r>
            <a:r>
              <a:rPr lang="en"/>
              <a:t>unlicensed</a:t>
            </a:r>
            <a:r>
              <a:rPr lang="en"/>
              <a:t> medical practice</a:t>
            </a:r>
            <a:r>
              <a:rPr lang="en"/>
              <a:t>, fraud, tax evasion, bribery, and illegal possession of firearms.</a:t>
            </a:r>
            <a:endParaRPr/>
          </a:p>
          <a:p>
            <a:pPr indent="0" lvl="0" marL="0" rtl="0" algn="l">
              <a:spcBef>
                <a:spcPts val="1200"/>
              </a:spcBef>
              <a:spcAft>
                <a:spcPts val="0"/>
              </a:spcAft>
              <a:buNone/>
            </a:pPr>
            <a:r>
              <a:rPr lang="en"/>
              <a:t>Middle left: Falun Gong practitioners in Beijing, 1995</a:t>
            </a:r>
            <a:endParaRPr/>
          </a:p>
          <a:p>
            <a:pPr indent="0" lvl="0" marL="0" rtl="0" algn="l">
              <a:spcBef>
                <a:spcPts val="1200"/>
              </a:spcBef>
              <a:spcAft>
                <a:spcPts val="0"/>
              </a:spcAft>
              <a:buNone/>
            </a:pPr>
            <a:r>
              <a:rPr lang="en"/>
              <a:t>Right: Li Hongzhi, founder of Falun Dafa</a:t>
            </a:r>
            <a:endParaRPr/>
          </a:p>
          <a:p>
            <a:pPr indent="0" lvl="0" marL="0" rtl="0" algn="l">
              <a:spcBef>
                <a:spcPts val="1200"/>
              </a:spcBef>
              <a:spcAft>
                <a:spcPts val="1200"/>
              </a:spcAft>
              <a:buNone/>
            </a:pPr>
            <a:r>
              <a:t/>
            </a:r>
            <a:endParaRPr/>
          </a:p>
        </p:txBody>
      </p:sp>
      <p:pic>
        <p:nvPicPr>
          <p:cNvPr descr="王林与中国富商马云，演员赵薇。" id="163" name="Google Shape;163;p23"/>
          <p:cNvPicPr preferRelativeResize="0"/>
          <p:nvPr/>
        </p:nvPicPr>
        <p:blipFill>
          <a:blip r:embed="rId3">
            <a:alphaModFix/>
          </a:blip>
          <a:stretch>
            <a:fillRect/>
          </a:stretch>
        </p:blipFill>
        <p:spPr>
          <a:xfrm>
            <a:off x="3192000" y="0"/>
            <a:ext cx="3454400" cy="1943100"/>
          </a:xfrm>
          <a:prstGeom prst="rect">
            <a:avLst/>
          </a:prstGeom>
          <a:noFill/>
          <a:ln>
            <a:noFill/>
          </a:ln>
        </p:spPr>
      </p:pic>
      <p:pic>
        <p:nvPicPr>
          <p:cNvPr id="164" name="Google Shape;164;p23"/>
          <p:cNvPicPr preferRelativeResize="0"/>
          <p:nvPr/>
        </p:nvPicPr>
        <p:blipFill>
          <a:blip r:embed="rId4">
            <a:alphaModFix/>
          </a:blip>
          <a:stretch>
            <a:fillRect/>
          </a:stretch>
        </p:blipFill>
        <p:spPr>
          <a:xfrm>
            <a:off x="3157883" y="2454900"/>
            <a:ext cx="3626266" cy="2039774"/>
          </a:xfrm>
          <a:prstGeom prst="rect">
            <a:avLst/>
          </a:prstGeom>
          <a:noFill/>
          <a:ln>
            <a:noFill/>
          </a:ln>
        </p:spPr>
      </p:pic>
      <p:pic>
        <p:nvPicPr>
          <p:cNvPr id="165" name="Google Shape;165;p23"/>
          <p:cNvPicPr preferRelativeResize="0"/>
          <p:nvPr/>
        </p:nvPicPr>
        <p:blipFill>
          <a:blip r:embed="rId5">
            <a:alphaModFix/>
          </a:blip>
          <a:stretch>
            <a:fillRect/>
          </a:stretch>
        </p:blipFill>
        <p:spPr>
          <a:xfrm>
            <a:off x="6873100" y="690625"/>
            <a:ext cx="2270900" cy="32814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Quiz 4 &amp; </a:t>
            </a:r>
            <a:r>
              <a:rPr lang="en"/>
              <a:t>Reading</a:t>
            </a:r>
            <a:r>
              <a:rPr lang="en"/>
              <a:t> Discussions</a:t>
            </a:r>
            <a:endParaRPr/>
          </a:p>
        </p:txBody>
      </p:sp>
      <p:sp>
        <p:nvSpPr>
          <p:cNvPr id="171" name="Google Shape;171;p24"/>
          <p:cNvSpPr txBox="1"/>
          <p:nvPr>
            <p:ph idx="1" type="body"/>
          </p:nvPr>
        </p:nvSpPr>
        <p:spPr>
          <a:xfrm>
            <a:off x="311700" y="1152475"/>
            <a:ext cx="18408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How did cult </a:t>
            </a:r>
            <a:r>
              <a:rPr lang="en"/>
              <a:t>propaganda</a:t>
            </a:r>
            <a:r>
              <a:rPr lang="en"/>
              <a:t> spread so quickly before modern mass media?</a:t>
            </a:r>
            <a:endParaRPr/>
          </a:p>
        </p:txBody>
      </p:sp>
      <p:sp>
        <p:nvSpPr>
          <p:cNvPr id="172" name="Google Shape;172;p24"/>
          <p:cNvSpPr txBox="1"/>
          <p:nvPr>
            <p:ph idx="2" type="body"/>
          </p:nvPr>
        </p:nvSpPr>
        <p:spPr>
          <a:xfrm>
            <a:off x="2792100" y="1152475"/>
            <a:ext cx="60402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sz="1200" u="sng">
                <a:solidFill>
                  <a:schemeClr val="hlink"/>
                </a:solidFill>
                <a:hlinkClick r:id="rId3"/>
              </a:rPr>
              <a:t>Palmer - Heretical Doctrines Reactionary Secret Societies Evil Cults Labeling Heterodoxy in 20th Century China</a:t>
            </a:r>
            <a:endParaRPr sz="1200">
              <a:solidFill>
                <a:schemeClr val="hlink"/>
              </a:solidFill>
            </a:endParaRPr>
          </a:p>
          <a:p>
            <a:pPr indent="-298450" lvl="0" marL="457200" rtl="0" algn="l">
              <a:spcBef>
                <a:spcPts val="1200"/>
              </a:spcBef>
              <a:spcAft>
                <a:spcPts val="0"/>
              </a:spcAft>
              <a:buClr>
                <a:srgbClr val="666666"/>
              </a:buClr>
              <a:buSzPts val="1100"/>
              <a:buChar char="●"/>
            </a:pPr>
            <a:r>
              <a:rPr lang="en" sz="1200">
                <a:solidFill>
                  <a:srgbClr val="666666"/>
                </a:solidFill>
              </a:rPr>
              <a:t>Pp. 1-14 Sectarian rebellion paradigm and the problem of the White Lotus - End of the Empire and of the discourse on heretical doctrines - Alliances between revolutionaries and “secret societies” - Secret societies become “reactionary sects” [</a:t>
            </a:r>
            <a:r>
              <a:rPr b="1" lang="en" sz="1200">
                <a:solidFill>
                  <a:srgbClr val="666666"/>
                </a:solidFill>
              </a:rPr>
              <a:t>Jessica Luo</a:t>
            </a:r>
            <a:r>
              <a:rPr lang="en" sz="1200">
                <a:solidFill>
                  <a:srgbClr val="666666"/>
                </a:solidFill>
              </a:rPr>
              <a:t>]</a:t>
            </a:r>
            <a:endParaRPr sz="1200">
              <a:solidFill>
                <a:srgbClr val="666666"/>
              </a:solidFill>
            </a:endParaRPr>
          </a:p>
          <a:p>
            <a:pPr indent="-298450" lvl="0" marL="457200" rtl="0" algn="l">
              <a:spcBef>
                <a:spcPts val="0"/>
              </a:spcBef>
              <a:spcAft>
                <a:spcPts val="0"/>
              </a:spcAft>
              <a:buClr>
                <a:srgbClr val="666666"/>
              </a:buClr>
              <a:buSzPts val="1100"/>
              <a:buChar char="●"/>
            </a:pPr>
            <a:r>
              <a:rPr lang="en" sz="1200">
                <a:solidFill>
                  <a:srgbClr val="666666"/>
                </a:solidFill>
              </a:rPr>
              <a:t>Pp. 14-32 Return of xiejiao via Christianity and the West - New Chinese discourse on xiejiao - End of modern ideology and the elevation of Religion [</a:t>
            </a:r>
            <a:r>
              <a:rPr b="1" lang="en" sz="1200">
                <a:solidFill>
                  <a:srgbClr val="666666"/>
                </a:solidFill>
              </a:rPr>
              <a:t>Jiahao Liu</a:t>
            </a:r>
            <a:r>
              <a:rPr lang="en" sz="1200">
                <a:solidFill>
                  <a:srgbClr val="666666"/>
                </a:solidFill>
              </a:rPr>
              <a:t>]</a:t>
            </a:r>
            <a:endParaRPr sz="1200">
              <a:solidFill>
                <a:srgbClr val="666666"/>
              </a:solidFill>
            </a:endParaRPr>
          </a:p>
          <a:p>
            <a:pPr indent="0" lvl="0" marL="0" rtl="0" algn="l">
              <a:spcBef>
                <a:spcPts val="1200"/>
              </a:spcBef>
              <a:spcAft>
                <a:spcPts val="0"/>
              </a:spcAft>
              <a:buNone/>
            </a:pPr>
            <a:r>
              <a:rPr lang="en" sz="1200" u="sng">
                <a:solidFill>
                  <a:schemeClr val="hlink"/>
                </a:solidFill>
                <a:hlinkClick r:id="rId4"/>
              </a:rPr>
              <a:t>Yang - Sprouts of Religious Civil Society Temples Localities and Communities (case study)</a:t>
            </a:r>
            <a:r>
              <a:rPr lang="en" sz="1200">
                <a:solidFill>
                  <a:srgbClr val="666666"/>
                </a:solidFill>
              </a:rPr>
              <a:t> [</a:t>
            </a:r>
            <a:r>
              <a:rPr b="1" lang="en" sz="1200">
                <a:solidFill>
                  <a:srgbClr val="666666"/>
                </a:solidFill>
              </a:rPr>
              <a:t>Jerry Tan</a:t>
            </a:r>
            <a:r>
              <a:rPr lang="en" sz="1200">
                <a:solidFill>
                  <a:srgbClr val="666666"/>
                </a:solidFill>
              </a:rPr>
              <a:t>]</a:t>
            </a:r>
            <a:endParaRPr sz="1200">
              <a:solidFill>
                <a:srgbClr val="666666"/>
              </a:solidFill>
            </a:endParaRPr>
          </a:p>
          <a:p>
            <a:pPr indent="0" lvl="0" marL="0" rtl="0" algn="l">
              <a:spcBef>
                <a:spcPts val="1200"/>
              </a:spcBef>
              <a:spcAft>
                <a:spcPts val="120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2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990"/>
              <a:buFont typeface="Arial"/>
              <a:buNone/>
            </a:pPr>
            <a:r>
              <a:rPr lang="en" sz="2320"/>
              <a:t>Heretical Doctrines, Reactionary Secret Societies, Evil Cults</a:t>
            </a:r>
            <a:endParaRPr sz="2320"/>
          </a:p>
        </p:txBody>
      </p:sp>
      <p:sp>
        <p:nvSpPr>
          <p:cNvPr id="178" name="Google Shape;178;p25"/>
          <p:cNvSpPr txBox="1"/>
          <p:nvPr>
            <p:ph idx="1" type="body"/>
          </p:nvPr>
        </p:nvSpPr>
        <p:spPr>
          <a:xfrm>
            <a:off x="311700" y="1152475"/>
            <a:ext cx="3999900" cy="3595800"/>
          </a:xfrm>
          <a:prstGeom prst="rect">
            <a:avLst/>
          </a:prstGeom>
        </p:spPr>
        <p:txBody>
          <a:bodyPr anchorCtr="0" anchor="t" bIns="91425" lIns="91425" spcFirstLastPara="1" rIns="91425" wrap="square" tIns="91425">
            <a:normAutofit fontScale="77500" lnSpcReduction="20000"/>
          </a:bodyPr>
          <a:lstStyle/>
          <a:p>
            <a:pPr indent="0" lvl="0" marL="0" rtl="0" algn="l">
              <a:spcBef>
                <a:spcPts val="0"/>
              </a:spcBef>
              <a:spcAft>
                <a:spcPts val="0"/>
              </a:spcAft>
              <a:buNone/>
            </a:pPr>
            <a:r>
              <a:rPr i="1" lang="en"/>
              <a:t>X</a:t>
            </a:r>
            <a:r>
              <a:rPr i="1" lang="en"/>
              <a:t>iejiao</a:t>
            </a:r>
            <a:r>
              <a:rPr lang="en"/>
              <a:t> 邪教 - heterodox teachings or “evil cults”</a:t>
            </a:r>
            <a:endParaRPr/>
          </a:p>
          <a:p>
            <a:pPr indent="0" lvl="0" marL="0" rtl="0" algn="l">
              <a:spcBef>
                <a:spcPts val="1200"/>
              </a:spcBef>
              <a:spcAft>
                <a:spcPts val="0"/>
              </a:spcAft>
              <a:buNone/>
            </a:pPr>
            <a:r>
              <a:rPr lang="en"/>
              <a:t>“Reactionary secret societies” (反動會道門)</a:t>
            </a:r>
            <a:endParaRPr/>
          </a:p>
          <a:p>
            <a:pPr indent="0" lvl="0" marL="0" rtl="0" algn="l">
              <a:spcBef>
                <a:spcPts val="1200"/>
              </a:spcBef>
              <a:spcAft>
                <a:spcPts val="0"/>
              </a:spcAft>
              <a:buNone/>
            </a:pPr>
            <a:r>
              <a:rPr lang="en"/>
              <a:t>The sectarian rebellion paradigm</a:t>
            </a:r>
            <a:endParaRPr/>
          </a:p>
          <a:p>
            <a:pPr indent="-297497" lvl="0" marL="457200" rtl="0" algn="l">
              <a:spcBef>
                <a:spcPts val="1200"/>
              </a:spcBef>
              <a:spcAft>
                <a:spcPts val="0"/>
              </a:spcAft>
              <a:buSzPct val="100000"/>
              <a:buChar char="●"/>
            </a:pPr>
            <a:r>
              <a:rPr lang="en"/>
              <a:t>Recurring theme for 2000+ years</a:t>
            </a:r>
            <a:endParaRPr/>
          </a:p>
          <a:p>
            <a:pPr indent="-297497" lvl="0" marL="457200" rtl="0" algn="l">
              <a:spcBef>
                <a:spcPts val="0"/>
              </a:spcBef>
              <a:spcAft>
                <a:spcPts val="0"/>
              </a:spcAft>
              <a:buSzPct val="100000"/>
              <a:buChar char="●"/>
            </a:pPr>
            <a:r>
              <a:rPr lang="en"/>
              <a:t>Yellow Turban (184 AD), Faqing (515), Han Shantong (1351), Xu Hongru (1622), Wang Lun (1774), White Lotus (1796), Taipings (1851-1864)</a:t>
            </a:r>
            <a:endParaRPr/>
          </a:p>
          <a:p>
            <a:pPr indent="-297497" lvl="0" marL="457200" rtl="0" algn="l">
              <a:spcBef>
                <a:spcPts val="0"/>
              </a:spcBef>
              <a:spcAft>
                <a:spcPts val="0"/>
              </a:spcAft>
              <a:buSzPct val="100000"/>
              <a:buChar char="●"/>
            </a:pPr>
            <a:r>
              <a:rPr lang="en"/>
              <a:t>Banned from Ming dynasty to Republic era: White Lotus Society, White Cloud Society, Maitreyanism (彌勒教), Manicheism (摩尼教)</a:t>
            </a:r>
            <a:endParaRPr/>
          </a:p>
          <a:p>
            <a:pPr indent="0" lvl="0" marL="0" rtl="0" algn="l">
              <a:spcBef>
                <a:spcPts val="1200"/>
              </a:spcBef>
              <a:spcAft>
                <a:spcPts val="0"/>
              </a:spcAft>
              <a:buNone/>
            </a:pPr>
            <a:r>
              <a:rPr lang="en"/>
              <a:t>War time: a</a:t>
            </a:r>
            <a:r>
              <a:rPr lang="en"/>
              <a:t>lliances between revolutionaries and “secret societies”</a:t>
            </a:r>
            <a:endParaRPr/>
          </a:p>
          <a:p>
            <a:pPr indent="0" lvl="0" marL="0" rtl="0" algn="l">
              <a:spcBef>
                <a:spcPts val="1200"/>
              </a:spcBef>
              <a:spcAft>
                <a:spcPts val="0"/>
              </a:spcAft>
              <a:buNone/>
            </a:pPr>
            <a:r>
              <a:rPr lang="en"/>
              <a:t>Peace time: secret societies become “reactionary sects”</a:t>
            </a:r>
            <a:endParaRPr/>
          </a:p>
          <a:p>
            <a:pPr indent="0" lvl="0" marL="0" rtl="0" algn="l">
              <a:spcBef>
                <a:spcPts val="1200"/>
              </a:spcBef>
              <a:spcAft>
                <a:spcPts val="1200"/>
              </a:spcAft>
              <a:buNone/>
            </a:pPr>
            <a:r>
              <a:rPr lang="en"/>
              <a:t>Blurred lines between cults, secret societies, civil society organizations, armed militias, and organized crimes</a:t>
            </a:r>
            <a:endParaRPr/>
          </a:p>
        </p:txBody>
      </p:sp>
      <p:sp>
        <p:nvSpPr>
          <p:cNvPr id="179" name="Google Shape;179;p25"/>
          <p:cNvSpPr txBox="1"/>
          <p:nvPr>
            <p:ph idx="2" type="body"/>
          </p:nvPr>
        </p:nvSpPr>
        <p:spPr>
          <a:xfrm>
            <a:off x="4651600" y="1152475"/>
            <a:ext cx="4180800" cy="35958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80" name="Google Shape;180;p25"/>
          <p:cNvPicPr preferRelativeResize="0"/>
          <p:nvPr/>
        </p:nvPicPr>
        <p:blipFill>
          <a:blip r:embed="rId3">
            <a:alphaModFix/>
          </a:blip>
          <a:stretch>
            <a:fillRect/>
          </a:stretch>
        </p:blipFill>
        <p:spPr>
          <a:xfrm>
            <a:off x="4983851" y="1152475"/>
            <a:ext cx="3591501" cy="3776674"/>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26"/>
          <p:cNvSpPr txBox="1"/>
          <p:nvPr>
            <p:ph type="title"/>
          </p:nvPr>
        </p:nvSpPr>
        <p:spPr>
          <a:xfrm>
            <a:off x="1284100" y="2829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Case of China Zhi Gong Party 中国致公党</a:t>
            </a:r>
            <a:endParaRPr/>
          </a:p>
          <a:p>
            <a:pPr indent="0" lvl="0" marL="0" rtl="0" algn="l">
              <a:spcBef>
                <a:spcPts val="0"/>
              </a:spcBef>
              <a:spcAft>
                <a:spcPts val="0"/>
              </a:spcAft>
              <a:buNone/>
            </a:pPr>
            <a:r>
              <a:t/>
            </a:r>
            <a:endParaRPr/>
          </a:p>
        </p:txBody>
      </p:sp>
      <p:sp>
        <p:nvSpPr>
          <p:cNvPr id="186" name="Google Shape;186;p26"/>
          <p:cNvSpPr txBox="1"/>
          <p:nvPr>
            <p:ph idx="1" type="body"/>
          </p:nvPr>
        </p:nvSpPr>
        <p:spPr>
          <a:xfrm>
            <a:off x="328750" y="1152475"/>
            <a:ext cx="3999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Currently on</a:t>
            </a:r>
            <a:r>
              <a:rPr lang="en"/>
              <a:t>e of the one of the officially sanctioned non-CCP political parties in PRC</a:t>
            </a:r>
            <a:endParaRPr/>
          </a:p>
          <a:p>
            <a:pPr indent="0" lvl="0" marL="0" rtl="0" algn="l">
              <a:spcBef>
                <a:spcPts val="1200"/>
              </a:spcBef>
              <a:spcAft>
                <a:spcPts val="0"/>
              </a:spcAft>
              <a:buNone/>
            </a:pPr>
            <a:r>
              <a:rPr lang="en"/>
              <a:t>Established</a:t>
            </a:r>
            <a:r>
              <a:rPr lang="en"/>
              <a:t> by North America based Chee Kung Tong (left: historical HQ of Chee Kung Tong in San Francisco Chinatown)</a:t>
            </a:r>
            <a:endParaRPr/>
          </a:p>
          <a:p>
            <a:pPr indent="0" lvl="0" marL="0" rtl="0" algn="l">
              <a:spcBef>
                <a:spcPts val="1200"/>
              </a:spcBef>
              <a:spcAft>
                <a:spcPts val="0"/>
              </a:spcAft>
              <a:buNone/>
            </a:pPr>
            <a:r>
              <a:rPr lang="en"/>
              <a:t>Chee Kung Tong being a subsidiary of North American </a:t>
            </a:r>
            <a:r>
              <a:rPr lang="en"/>
              <a:t>Hongmen, also called </a:t>
            </a:r>
            <a:r>
              <a:rPr lang="en"/>
              <a:t>Heaven and Earth Society, </a:t>
            </a:r>
            <a:endParaRPr/>
          </a:p>
          <a:p>
            <a:pPr indent="0" lvl="0" marL="0" rtl="0" algn="l">
              <a:spcBef>
                <a:spcPts val="1200"/>
              </a:spcBef>
              <a:spcAft>
                <a:spcPts val="1200"/>
              </a:spcAft>
              <a:buClr>
                <a:schemeClr val="dk1"/>
              </a:buClr>
              <a:buSzPts val="1100"/>
              <a:buFont typeface="Arial"/>
              <a:buNone/>
            </a:pPr>
            <a:r>
              <a:rPr lang="en"/>
              <a:t>Hongmen a “fraternal organization” formed by former members of White Lotus Society fleeing persecution</a:t>
            </a:r>
            <a:endParaRPr/>
          </a:p>
        </p:txBody>
      </p:sp>
      <p:sp>
        <p:nvSpPr>
          <p:cNvPr id="187" name="Google Shape;187;p26"/>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88" name="Google Shape;188;p26"/>
          <p:cNvPicPr preferRelativeResize="0"/>
          <p:nvPr/>
        </p:nvPicPr>
        <p:blipFill>
          <a:blip r:embed="rId3">
            <a:alphaModFix/>
          </a:blip>
          <a:stretch>
            <a:fillRect/>
          </a:stretch>
        </p:blipFill>
        <p:spPr>
          <a:xfrm>
            <a:off x="34125" y="0"/>
            <a:ext cx="1063400" cy="1063400"/>
          </a:xfrm>
          <a:prstGeom prst="rect">
            <a:avLst/>
          </a:prstGeom>
          <a:noFill/>
          <a:ln>
            <a:noFill/>
          </a:ln>
        </p:spPr>
      </p:pic>
      <p:pic>
        <p:nvPicPr>
          <p:cNvPr id="189" name="Google Shape;189;p26"/>
          <p:cNvPicPr preferRelativeResize="0"/>
          <p:nvPr/>
        </p:nvPicPr>
        <p:blipFill rotWithShape="1">
          <a:blip r:embed="rId4">
            <a:alphaModFix/>
          </a:blip>
          <a:srcRect b="9856" l="0" r="0" t="32266"/>
          <a:stretch/>
        </p:blipFill>
        <p:spPr>
          <a:xfrm>
            <a:off x="4832400" y="1152475"/>
            <a:ext cx="3999900" cy="3715633"/>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27"/>
          <p:cNvSpPr txBox="1"/>
          <p:nvPr>
            <p:ph type="title"/>
          </p:nvPr>
        </p:nvSpPr>
        <p:spPr>
          <a:xfrm>
            <a:off x="311700" y="274125"/>
            <a:ext cx="3802500" cy="7557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b="1" lang="en"/>
              <a:t>Prelude: 1986 Student demonstrations </a:t>
            </a:r>
            <a:r>
              <a:rPr b="1" lang="en" sz="2300"/>
              <a:t>八六学潮</a:t>
            </a:r>
            <a:endParaRPr b="1"/>
          </a:p>
        </p:txBody>
      </p:sp>
      <p:sp>
        <p:nvSpPr>
          <p:cNvPr id="195" name="Google Shape;195;p27"/>
          <p:cNvSpPr txBox="1"/>
          <p:nvPr>
            <p:ph idx="1" type="body"/>
          </p:nvPr>
        </p:nvSpPr>
        <p:spPr>
          <a:xfrm>
            <a:off x="311700" y="1088975"/>
            <a:ext cx="3954900" cy="37104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b="1" lang="en"/>
              <a:t>Summer 1986: Liberal faction’s unsuccessful election reform</a:t>
            </a:r>
            <a:endParaRPr b="1"/>
          </a:p>
          <a:p>
            <a:pPr indent="-299085" lvl="0" marL="457200" rtl="0" algn="l">
              <a:spcBef>
                <a:spcPts val="1200"/>
              </a:spcBef>
              <a:spcAft>
                <a:spcPts val="0"/>
              </a:spcAft>
              <a:buSzPct val="100000"/>
              <a:buChar char="●"/>
            </a:pPr>
            <a:r>
              <a:rPr lang="en"/>
              <a:t>Direct nomination &amp; election of NPC members rather than selecting from government-approved list of candidates.</a:t>
            </a:r>
            <a:endParaRPr/>
          </a:p>
          <a:p>
            <a:pPr indent="-299085" lvl="0" marL="457200" rtl="0" algn="l">
              <a:spcBef>
                <a:spcPts val="0"/>
              </a:spcBef>
              <a:spcAft>
                <a:spcPts val="0"/>
              </a:spcAft>
              <a:buSzPct val="100000"/>
              <a:buChar char="●"/>
            </a:pPr>
            <a:r>
              <a:rPr lang="en"/>
              <a:t>Resisted by local officials </a:t>
            </a:r>
            <a:endParaRPr/>
          </a:p>
          <a:p>
            <a:pPr indent="-299085" lvl="0" marL="457200" rtl="0" algn="l">
              <a:spcBef>
                <a:spcPts val="0"/>
              </a:spcBef>
              <a:spcAft>
                <a:spcPts val="0"/>
              </a:spcAft>
              <a:buSzPct val="100000"/>
              <a:buChar char="●"/>
            </a:pPr>
            <a:r>
              <a:rPr lang="en"/>
              <a:t>December 1986: student protests throughout China </a:t>
            </a:r>
            <a:endParaRPr/>
          </a:p>
          <a:p>
            <a:pPr indent="0" lvl="0" marL="0" rtl="0" algn="l">
              <a:spcBef>
                <a:spcPts val="1200"/>
              </a:spcBef>
              <a:spcAft>
                <a:spcPts val="0"/>
              </a:spcAft>
              <a:buNone/>
            </a:pPr>
            <a:r>
              <a:rPr b="1" lang="en"/>
              <a:t>Intensifying c</a:t>
            </a:r>
            <a:r>
              <a:rPr b="1" lang="en"/>
              <a:t>onflict b/w Liberal and Hardliner factions </a:t>
            </a:r>
            <a:endParaRPr b="1"/>
          </a:p>
          <a:p>
            <a:pPr indent="-299085" lvl="0" marL="457200" rtl="0" algn="l">
              <a:spcBef>
                <a:spcPts val="1200"/>
              </a:spcBef>
              <a:spcAft>
                <a:spcPts val="0"/>
              </a:spcAft>
              <a:buSzPct val="100000"/>
              <a:buChar char="●"/>
            </a:pPr>
            <a:r>
              <a:rPr lang="en"/>
              <a:t>Hardliners accuse Hu of instigating student protests</a:t>
            </a:r>
            <a:endParaRPr/>
          </a:p>
          <a:p>
            <a:pPr indent="-299085" lvl="0" marL="457200" rtl="0" algn="l">
              <a:spcBef>
                <a:spcPts val="0"/>
              </a:spcBef>
              <a:spcAft>
                <a:spcPts val="0"/>
              </a:spcAft>
              <a:buSzPct val="100000"/>
              <a:buChar char="●"/>
            </a:pPr>
            <a:r>
              <a:rPr lang="en"/>
              <a:t>Deng Xiaoping brokered a compromise b/w two factions</a:t>
            </a:r>
            <a:endParaRPr/>
          </a:p>
          <a:p>
            <a:pPr indent="0" lvl="0" marL="0" rtl="0" algn="l">
              <a:spcBef>
                <a:spcPts val="1200"/>
              </a:spcBef>
              <a:spcAft>
                <a:spcPts val="0"/>
              </a:spcAft>
              <a:buNone/>
            </a:pPr>
            <a:r>
              <a:rPr b="1" lang="en"/>
              <a:t>Jan 1987: Hu Yaobang forced to resign as CCP </a:t>
            </a:r>
            <a:r>
              <a:rPr b="1" lang="en"/>
              <a:t>General Secretary, replaced by his close ally Zhao Ziyang</a:t>
            </a:r>
            <a:endParaRPr b="1"/>
          </a:p>
          <a:p>
            <a:pPr indent="-299085" lvl="0" marL="457200" rtl="0" algn="l">
              <a:spcBef>
                <a:spcPts val="1200"/>
              </a:spcBef>
              <a:spcAft>
                <a:spcPts val="0"/>
              </a:spcAft>
              <a:buSzPct val="100000"/>
              <a:buChar char="●"/>
            </a:pPr>
            <a:r>
              <a:rPr lang="en"/>
              <a:t>Hu Yaobang and Zhao Ziyang supported by pro-democracy student groups</a:t>
            </a:r>
            <a:endParaRPr/>
          </a:p>
          <a:p>
            <a:pPr indent="-299085" lvl="0" marL="457200" rtl="0" algn="l">
              <a:spcBef>
                <a:spcPts val="0"/>
              </a:spcBef>
              <a:spcAft>
                <a:spcPts val="0"/>
              </a:spcAft>
              <a:buSzPct val="100000"/>
              <a:buChar char="●"/>
            </a:pPr>
            <a:r>
              <a:rPr lang="en"/>
              <a:t>Power struggle b/w Liberals and Hardliners continued behind the scene, until 1989</a:t>
            </a:r>
            <a:endParaRPr/>
          </a:p>
        </p:txBody>
      </p:sp>
      <p:pic>
        <p:nvPicPr>
          <p:cNvPr id="196" name="Google Shape;196;p27"/>
          <p:cNvPicPr preferRelativeResize="0"/>
          <p:nvPr/>
        </p:nvPicPr>
        <p:blipFill>
          <a:blip r:embed="rId3">
            <a:alphaModFix/>
          </a:blip>
          <a:stretch>
            <a:fillRect/>
          </a:stretch>
        </p:blipFill>
        <p:spPr>
          <a:xfrm>
            <a:off x="4419000" y="948400"/>
            <a:ext cx="4725000" cy="3246694"/>
          </a:xfrm>
          <a:prstGeom prst="rect">
            <a:avLst/>
          </a:prstGeom>
          <a:noFill/>
          <a:ln>
            <a:noFill/>
          </a:ln>
        </p:spPr>
      </p:pic>
      <p:sp>
        <p:nvSpPr>
          <p:cNvPr id="197" name="Google Shape;197;p27"/>
          <p:cNvSpPr txBox="1"/>
          <p:nvPr/>
        </p:nvSpPr>
        <p:spPr>
          <a:xfrm>
            <a:off x="4419000" y="4296000"/>
            <a:ext cx="4572600" cy="27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t>Student protests in Shanghai, 1986-12-21 [</a:t>
            </a:r>
            <a:r>
              <a:rPr lang="en" sz="1000" u="sng">
                <a:solidFill>
                  <a:schemeClr val="hlink"/>
                </a:solidFill>
                <a:hlinkClick r:id="rId4"/>
              </a:rPr>
              <a:t>Image source</a:t>
            </a:r>
            <a:r>
              <a:rPr lang="en" sz="1000"/>
              <a:t>]</a:t>
            </a:r>
            <a:endParaRPr sz="1000"/>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